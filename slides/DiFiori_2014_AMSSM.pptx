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463040"/>
            <a:ext cx="444855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青少年运动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过度使用损伤与倦怠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43050" y="3840480"/>
            <a:ext cx="2057400" cy="20117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4114800"/>
            <a:ext cx="44485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</a:rPr>
              <a:t>DiFiori JP · Benjamin HJ · Brenner JS · Gregory A 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" y="4663440"/>
            <a:ext cx="44485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AMSSM 美国运动医学学会官方立场声明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British Journal of Sports Medicine · 2014 · 被引 786 次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31570" y="5577840"/>
            <a:ext cx="28803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131570" y="55778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★★★★★ 顶级权威立场声明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6400800"/>
            <a:ext cx="44485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编者：於菟子Max爱棒球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143500" cy="960120"/>
          </a:xfrm>
          <a:prstGeom prst="rect">
            <a:avLst/>
          </a:prstGeom>
          <a:solidFill>
            <a:srgbClr val="FDFAF3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44485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核心摘要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448556" cy="1005840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34440"/>
            <a:ext cx="45720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34440"/>
            <a:ext cx="41285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核心定位
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针对6–18岁青少年运动员过度使用损伤和运动倦怠的系统性循证综述。AMSSM七位专家撰写，检索953篇文献后筛选208篇核心文献，采用SORT分级标注重组建议。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2514600"/>
            <a:ext cx="44485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背景：过度强调竞技成功导致低龄高强度训练普遍化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过度使用损伤：重复亚最大负荷+休息不足=结构损伤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青少年特有损伤：骨突损伤和骨骺应力损伤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倦怠：慢性压力导致停止参与曾愉快的运动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4572000"/>
            <a:ext cx="4448556" cy="18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4754880"/>
            <a:ext cx="44485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关键洞察：当前文献严重低估过度使用损伤——大多流行病学研究以时间损失定义损伤，而许多过度使用损伤不导致立即停赛。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8759952"/>
            <a:ext cx="5143500" cy="384048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8759952"/>
            <a:ext cx="5143500" cy="27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875995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C8D"/>
                </a:solidFill>
              </a:rPr>
              <a:t>编者：於菟子Max爱棒球  |  DiFiori et al., AMSSM Position Statement, 2014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143500" cy="960120"/>
          </a:xfrm>
          <a:prstGeom prst="rect">
            <a:avLst/>
          </a:prstGeom>
          <a:solidFill>
            <a:srgbClr val="FDFAF3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44485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流行病学关键数据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1280160"/>
            <a:ext cx="213283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80160"/>
            <a:ext cx="2132838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371600"/>
            <a:ext cx="19865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2700万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0624" y="1828800"/>
            <a:ext cx="19865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美国6–18岁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参与团队运动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63190" y="1280160"/>
            <a:ext cx="213283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63190" y="1280160"/>
            <a:ext cx="2132838" cy="3200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2736342" y="1371600"/>
            <a:ext cx="19865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6000万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36342" y="1828800"/>
            <a:ext cx="19865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参与有组织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运动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560320"/>
            <a:ext cx="213283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560320"/>
            <a:ext cx="2132838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2651760"/>
            <a:ext cx="19865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46%–54%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0624" y="3108960"/>
            <a:ext cx="19865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过度使用占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所有损伤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63190" y="2560320"/>
            <a:ext cx="213283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63190" y="2560320"/>
            <a:ext cx="2132838" cy="32004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9" name="Text 17"/>
          <p:cNvSpPr/>
          <p:nvPr/>
        </p:nvSpPr>
        <p:spPr>
          <a:xfrm>
            <a:off x="2736342" y="2651760"/>
            <a:ext cx="19865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37%–68%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36342" y="3108960"/>
            <a:ext cx="19865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各运动过度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使用范围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840480"/>
            <a:ext cx="213283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840480"/>
            <a:ext cx="2132838" cy="3200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931920"/>
            <a:ext cx="19865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350万+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0624" y="4389120"/>
            <a:ext cx="19865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美国儿童年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运动损伤数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63190" y="3840480"/>
            <a:ext cx="213283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63190" y="3840480"/>
            <a:ext cx="2132838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7" name="Text 25"/>
          <p:cNvSpPr/>
          <p:nvPr/>
        </p:nvSpPr>
        <p:spPr>
          <a:xfrm>
            <a:off x="2736342" y="3931920"/>
            <a:ext cx="19865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370万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736342" y="4389120"/>
            <a:ext cx="19865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高中运动年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损伤估计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5120640"/>
            <a:ext cx="213283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5120640"/>
            <a:ext cx="2132838" cy="320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" y="5212080"/>
            <a:ext cx="19865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29.3%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20624" y="5669280"/>
            <a:ext cx="19865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大学运动过度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使用比例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63190" y="5120640"/>
            <a:ext cx="213283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663190" y="5120640"/>
            <a:ext cx="2132838" cy="3200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5" name="Text 33"/>
          <p:cNvSpPr/>
          <p:nvPr/>
        </p:nvSpPr>
        <p:spPr>
          <a:xfrm>
            <a:off x="2736342" y="5212080"/>
            <a:ext cx="19865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770万+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736342" y="5669280"/>
            <a:ext cx="19865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2012–13高中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运动员总数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6126480"/>
            <a:ext cx="4448556" cy="4572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126480"/>
            <a:ext cx="42291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游泳63% · 跑步68% · 体操33% · 网球33% · 足球15%——过度使用损伤患病率因运动项目而异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8759952"/>
            <a:ext cx="5143500" cy="384048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8759952"/>
            <a:ext cx="5143500" cy="27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" y="875995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C8D"/>
                </a:solidFill>
              </a:rPr>
              <a:t>编者：於菟子Max爱棒球  |  DiFiori et al., AMSSM Position Statement, 2014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6400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143500" cy="960120"/>
          </a:xfrm>
          <a:prstGeom prst="rect">
            <a:avLst/>
          </a:prstGeom>
          <a:solidFill>
            <a:srgbClr val="FDFAF3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44485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风险因素体系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4448556" cy="3200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188720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内在风险因素（Intrinsic）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645920"/>
            <a:ext cx="4448556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645920"/>
            <a:ext cx="41148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" y="1792224"/>
            <a:ext cx="219456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7922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6459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既往损伤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19072" y="1645920"/>
            <a:ext cx="28940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未来过度使用损伤的最强预测因子，每次评估必须记录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304288"/>
            <a:ext cx="4448556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304288"/>
            <a:ext cx="41148" cy="56692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02336" y="2450592"/>
            <a:ext cx="219456" cy="219456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2450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23042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生长突增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19072" y="2304288"/>
            <a:ext cx="28940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骨骺/骨突抗负荷力降低；骨密度暂时下降；生长-力量不平衡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962656"/>
            <a:ext cx="4448556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962656"/>
            <a:ext cx="41148" cy="56692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02336" y="3108960"/>
            <a:ext cx="219456" cy="219456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3108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29626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月经障碍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19072" y="2962656"/>
            <a:ext cx="28940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闭经史→应力性骨折风险↑；低能量可利用性(RED-S)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3621024"/>
            <a:ext cx="4448556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3621024"/>
            <a:ext cx="41148" cy="5669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Shape 25"/>
          <p:cNvSpPr/>
          <p:nvPr/>
        </p:nvSpPr>
        <p:spPr>
          <a:xfrm>
            <a:off x="402336" y="3767328"/>
            <a:ext cx="219456" cy="21945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" y="3767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362102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身体因素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19072" y="3621024"/>
            <a:ext cx="28940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瘦体组织缺乏·关节活动度过大·解剖对线（证据有限）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4434840"/>
            <a:ext cx="4448556" cy="18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2" name="Shape 30"/>
          <p:cNvSpPr/>
          <p:nvPr/>
        </p:nvSpPr>
        <p:spPr>
          <a:xfrm>
            <a:off x="347472" y="4526280"/>
            <a:ext cx="4448556" cy="29260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4526280"/>
            <a:ext cx="4265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外在风险因素（Extrinsic）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4937760"/>
            <a:ext cx="4448556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4937760"/>
            <a:ext cx="41148" cy="4572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937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高训练量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536192" y="4937760"/>
            <a:ext cx="31226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训练&gt;16h/周风险显著↑；棒球投手&gt;100局/年损伤风险×3.5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7472" y="5468112"/>
            <a:ext cx="4448556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7472" y="5468112"/>
            <a:ext cx="41148" cy="4572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54681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过密赛程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536192" y="5468112"/>
            <a:ext cx="31226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全年单项目训练；锦标赛制(单日多场)；高负荷-恢复比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7472" y="5998464"/>
            <a:ext cx="4448556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47472" y="5998464"/>
            <a:ext cx="41148" cy="4572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59984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专项化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536192" y="5998464"/>
            <a:ext cx="31226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早期专项化可能增加损伤和倦怠风险（证据有限，C级）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8759952"/>
            <a:ext cx="5143500" cy="384048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8759952"/>
            <a:ext cx="5143500" cy="274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48" name="Text 46"/>
          <p:cNvSpPr/>
          <p:nvPr/>
        </p:nvSpPr>
        <p:spPr>
          <a:xfrm>
            <a:off x="347472" y="875995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C8D"/>
                </a:solidFill>
              </a:rPr>
              <a:t>编者：於菟子Max爱棒球  |  DiFiori et al., AMSSM Position Statement, 2014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6400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143500" cy="960120"/>
          </a:xfrm>
          <a:prstGeom prst="rect">
            <a:avLst/>
          </a:prstGeom>
          <a:solidFill>
            <a:srgbClr val="FDFAF3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44485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运动专项化与准备度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4448556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88720"/>
            <a:ext cx="41148" cy="21031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4174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运动专项化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定义：以排除其他运动为代价，全年单一运动强化训练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例外：体操/花滑/游泳可能需12岁前专项化，常5–6岁开始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多数运动：晚期专项化（青春期晚期）更常见且更有益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多元化训练 → 技能正向转移 → 更有效培养精英技能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10,000小时规则：达到精英水平所需训练量可能远少于10,000h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仅打网球风险×1.5；投球&gt;8月/年→更可能需肩肘手术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3520440"/>
            <a:ext cx="4448556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3520440"/>
            <a:ext cx="41148" cy="1508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520440"/>
            <a:ext cx="4174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运动准备度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42291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儿童生长和发育水平（运动、认知、社交）与竞技运动任务之间的匹配程度。时间年龄不是好指标——技能以不同速率进展。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" y="4407408"/>
          <a:ext cx="4357116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920240"/>
                <a:gridCol w="150876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980B9"/>
                          </a:solidFill>
                        </a:rPr>
                        <a:t>2–5岁</a:t>
                      </a:r>
                      <a:endParaRPr lang="en-US" sz="8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基本技能有限，平衡差</a:t>
                      </a:r>
                      <a:endParaRPr lang="en-US" sz="8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跑、游、翻滚、投、接</a:t>
                      </a:r>
                      <a:endParaRPr lang="en-US" sz="8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980B9"/>
                          </a:solidFill>
                        </a:rPr>
                        <a:t>6–9岁</a:t>
                      </a:r>
                      <a:endParaRPr lang="en-US" sz="8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姿势平衡自动化</a:t>
                      </a:r>
                      <a:endParaRPr lang="en-US" sz="8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入门足球、棒球、体操、武术</a:t>
                      </a:r>
                      <a:endParaRPr lang="en-US" sz="8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980B9"/>
                          </a:solidFill>
                        </a:rPr>
                        <a:t>10–12岁</a:t>
                      </a:r>
                      <a:endParaRPr lang="en-US" sz="8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可掌握复杂运动技能</a:t>
                      </a:r>
                      <a:endParaRPr lang="en-US" sz="8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橄榄球、篮球、排球</a:t>
                      </a:r>
                      <a:endParaRPr lang="en-US" sz="8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47472" y="5257800"/>
            <a:ext cx="4448556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47472" y="5257800"/>
            <a:ext cx="41148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5257800"/>
            <a:ext cx="42291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</a:rPr>
              <a:t>教练和家长常因不了解正常发育而产生不切实际期望 → 儿童丧失自尊 → 退出运动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0" y="8759952"/>
            <a:ext cx="5143500" cy="384048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18" name="Shape 15"/>
          <p:cNvSpPr/>
          <p:nvPr/>
        </p:nvSpPr>
        <p:spPr>
          <a:xfrm>
            <a:off x="0" y="8759952"/>
            <a:ext cx="5143500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6"/>
          <p:cNvSpPr/>
          <p:nvPr/>
        </p:nvSpPr>
        <p:spPr>
          <a:xfrm>
            <a:off x="347472" y="875995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C8D"/>
                </a:solidFill>
              </a:rPr>
              <a:t>编者：於菟子Max爱棒球  |  DiFiori et al., AMSSM Position Statement, 2014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143500" cy="960120"/>
          </a:xfrm>
          <a:prstGeom prst="rect">
            <a:avLst/>
          </a:prstGeom>
          <a:solidFill>
            <a:srgbClr val="FDFAF3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44485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高风险过度使用损伤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47472" y="114300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高风险应力性骨折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2087118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508760"/>
            <a:ext cx="2087118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554480"/>
            <a:ext cx="19408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腰椎峡部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" y="1783080"/>
            <a:ext cx="19408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不愈合14-70% / 恢复5.4月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08910" y="1508760"/>
            <a:ext cx="2087118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08910" y="1508760"/>
            <a:ext cx="2087118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2782062" y="1554480"/>
            <a:ext cx="19408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股骨颈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2062" y="1783080"/>
            <a:ext cx="19408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缺血坏死风险 / 严格免负重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47472" y="2194560"/>
            <a:ext cx="2087118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194560"/>
            <a:ext cx="2087118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2240280"/>
            <a:ext cx="19408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胫骨前皮质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" y="2468880"/>
            <a:ext cx="19408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不愈合风险高 / 非手术常失败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08910" y="2194560"/>
            <a:ext cx="2087118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08910" y="2194560"/>
            <a:ext cx="2087118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2782062" y="2240280"/>
            <a:ext cx="19408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足舟骨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2062" y="2468880"/>
            <a:ext cx="19408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延迟诊断常见 / 需CT/MRI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7472" y="3063240"/>
            <a:ext cx="4448556" cy="18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200400"/>
            <a:ext cx="4448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骨骺应力损伤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4747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桡骨远端（体操）10–85%放射学异常→骨骺早闭→尺骨变异→退变 | 股骨/胫骨→腿长不等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4023360"/>
            <a:ext cx="44485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</a:rPr>
              <a:t>剥脱性骨软骨炎(OCD)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股骨髁·肱骨小头·距骨穹隆；典型青春期发病；未闭合骨骺稳定病灶保守治疗可愈合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劳力性血栓形成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胸廓出口综合征后果；31%发生在青少年；第一肋骨切除后恢复运动3.5个月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5486400"/>
            <a:ext cx="4448556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5486400"/>
            <a:ext cx="4114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486400"/>
            <a:ext cx="4174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疼痛部位 → 高风险损伤对照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806440"/>
            <a:ext cx="42291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📍 中央腰痛 → 峡部应力骨折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📍 前髋/腹股沟痛 → 股骨颈应力骨折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📍 前小腿痛 → 胫骨前皮质（黑色线）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📍 足背内侧痛 → 足舟骨应力骨折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📍 足外侧痛 → Jones骨折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8759952"/>
            <a:ext cx="5143500" cy="384048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8759952"/>
            <a:ext cx="5143500" cy="27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875995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C8D"/>
                </a:solidFill>
              </a:rPr>
              <a:t>编者：於菟子Max爱棒球  |  DiFiori et al., AMSSM Position Statement, 2014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6400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143500" cy="960120"/>
          </a:xfrm>
          <a:prstGeom prst="rect">
            <a:avLst/>
          </a:prstGeom>
          <a:solidFill>
            <a:srgbClr val="FDFAF3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44485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运动倦怠与过度训练综合征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4448556" cy="685800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188720"/>
            <a:ext cx="41742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倦怠 = 慢性压力导致年轻运动员停止参与曾经愉快的活动。属于过度训练谱系，30–35%青少年运动员受影响。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205740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倦怠四阶段（Smith 1986）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2423160"/>
            <a:ext cx="274320" cy="27432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743200"/>
            <a:ext cx="1112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① 被置于高要求境地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51051" y="2423160"/>
            <a:ext cx="274320" cy="27432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2" name="Text 10"/>
          <p:cNvSpPr/>
          <p:nvPr/>
        </p:nvSpPr>
        <p:spPr>
          <a:xfrm>
            <a:off x="1551051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59611" y="2743200"/>
            <a:ext cx="1112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② 要求被认为过分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63190" y="2423160"/>
            <a:ext cx="274320" cy="27432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5" name="Text 13"/>
          <p:cNvSpPr/>
          <p:nvPr/>
        </p:nvSpPr>
        <p:spPr>
          <a:xfrm>
            <a:off x="266319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71750" y="2743200"/>
            <a:ext cx="1112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③ 出现生理反应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75329" y="2423160"/>
            <a:ext cx="274320" cy="27432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8" name="Text 16"/>
          <p:cNvSpPr/>
          <p:nvPr/>
        </p:nvSpPr>
        <p:spPr>
          <a:xfrm>
            <a:off x="3775329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83889" y="2743200"/>
            <a:ext cx="1112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④ 退出运动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" y="3200400"/>
            <a:ext cx="4448556" cy="18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3337560"/>
            <a:ext cx="4448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5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倦怠风险因素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3657600"/>
            <a:ext cx="2155698" cy="13716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8912" y="3703320"/>
            <a:ext cx="19728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</a:rPr>
              <a:t>环境因素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高训练量/过度安排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父母教练压力(赢球期望)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缺乏乐趣/自主权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单一专属化·减少社交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40330" y="3657600"/>
            <a:ext cx="2155698" cy="1371600"/>
          </a:xfrm>
          <a:prstGeom prst="rect">
            <a:avLst/>
          </a:prstGeom>
          <a:solidFill>
            <a:srgbClr val="FDEBD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31770" y="3703320"/>
            <a:ext cx="19728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</a:rPr>
              <a:t>个人特征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完美主义·高度竞争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单一身份认同·低自尊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女性·个人项目·顶级竞技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更担心失败和他人期望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5303520"/>
            <a:ext cx="4448556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5303520"/>
            <a:ext cx="41148" cy="1463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303520"/>
            <a:ext cx="4174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过度训练综合征诊断（必先排除器质性疾病）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623560"/>
            <a:ext cx="42291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运动表现下降持续 &gt; 2个月（核心定义特征）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近期训练量/强度明显增加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睡眠障碍 · 食欲变化 · 情绪变化（易怒/焦虑/抑郁）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频繁生病（免疫功能下降）· 持续疲劳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</a:rPr>
              <a:t>只能通过完整病史采集诊断——无实验室确诊方法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8759952"/>
            <a:ext cx="5143500" cy="384048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8759952"/>
            <a:ext cx="5143500" cy="274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875995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C8D"/>
                </a:solidFill>
              </a:rPr>
              <a:t>编者：於菟子Max爱棒球  |  DiFiori et al., AMSSM Position Statement, 2014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143500" cy="960120"/>
          </a:xfrm>
          <a:prstGeom prst="rect">
            <a:avLst/>
          </a:prstGeom>
          <a:solidFill>
            <a:srgbClr val="FDFAF3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44485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预防建议（SORT循证分级）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4448556" cy="914400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45720" cy="9144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417320"/>
            <a:ext cx="320040" cy="32004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143000"/>
            <a:ext cx="37627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既往损伤是最强预测因子，每次评估必须记录。所有过度使用损伤非天生良性，应关注高风险损伤。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194560"/>
            <a:ext cx="4448556" cy="914400"/>
          </a:xfrm>
          <a:prstGeom prst="rect">
            <a:avLst/>
          </a:prstGeom>
          <a:solidFill>
            <a:srgbClr val="D4E6F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194560"/>
            <a:ext cx="45720" cy="9144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" y="246888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2194560"/>
            <a:ext cx="37627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限制每周/年参与时间+重复动作+安排休息期。生长突增期仔细监测训练负荷。季前体能+神经肌肉训练降低损伤率。评估女运动员月经功能。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246120"/>
            <a:ext cx="4448556" cy="914400"/>
          </a:xfrm>
          <a:prstGeom prst="rect">
            <a:avLst/>
          </a:prstGeom>
          <a:solidFill>
            <a:srgbClr val="FDEBD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246120"/>
            <a:ext cx="45720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" y="352044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3246120"/>
            <a:ext cx="37627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个体化调整方案。强调技能发展&gt;竞赛获胜以降低倦怠。鼓励运动多元化。教育家长/教练运动准备度概念。正确选择和调整装备。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4434840"/>
            <a:ext cx="4448556" cy="18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457200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核心行动建议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4892040"/>
            <a:ext cx="444855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赛前体检识别既往损伤模式，评估运动准备度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生长突增期强化训练负荷监控（损伤风险在此期最高）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除体操/花滑/游泳外，鼓励早期运动多元化而非早期专项化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诊断过度使用损伤时，必须处理根本原因——运动员+家长+教练三方参与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对青少年运动员报告的特定部位疼痛保持高度警惕（→高风险损伤对照表）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8759952"/>
            <a:ext cx="5143500" cy="384048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8759952"/>
            <a:ext cx="5143500" cy="27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875995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C8D"/>
                </a:solidFill>
              </a:rPr>
              <a:t>编者：於菟子Max爱棒球  |  DiFiori et al., AMSSM Position Statement, 2014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2103120"/>
            <a:ext cx="4448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谢谢阅读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43050" y="3017520"/>
            <a:ext cx="2057400" cy="20117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3291840"/>
            <a:ext cx="44485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DiFiori JP · Benjamin HJ · Brenner JS · Gregory A 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Overuse Injuries and Burnout in Youth Sports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AMSSM Position Statement · BJSM / CJSM, 2014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28700" y="4572000"/>
            <a:ext cx="308610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45720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9C12"/>
                </a:solidFill>
              </a:rPr>
              <a:t>编者：於菟子Max爱棒球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青少年运动过度使用损伤与倦怠 — AMSSM立场声明</dc:title>
  <dc:subject>PptxGenJS Presentation</dc:subject>
  <dc:creator>於菟子Max爱棒球</dc:creator>
  <cp:lastModifiedBy>於菟子Max爱棒球</cp:lastModifiedBy>
  <cp:revision>1</cp:revision>
  <dcterms:created xsi:type="dcterms:W3CDTF">2026-06-26T03:25:26Z</dcterms:created>
  <dcterms:modified xsi:type="dcterms:W3CDTF">2026-06-26T03:25:26Z</dcterms:modified>
</cp:coreProperties>
</file>