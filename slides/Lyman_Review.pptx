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38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24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229100" y="2743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C0392B"/>
                </a:solidFill>
              </a:rPr>
              <a:t>⚾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85875" y="1280160"/>
            <a:ext cx="18288" cy="5029200"/>
          </a:xfrm>
          <a:prstGeom prst="rect">
            <a:avLst/>
          </a:prstGeom>
          <a:solidFill>
            <a:srgbClr val="C0392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59027" y="1463040"/>
            <a:ext cx="18288" cy="4572000"/>
          </a:xfrm>
          <a:prstGeom prst="rect">
            <a:avLst/>
          </a:prstGeom>
          <a:solidFill>
            <a:srgbClr val="C0392B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191256"/>
            <a:ext cx="40096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青少年棒球投球</a:t>
            </a:r>
            <a:endParaRPr lang="en-US" sz="2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疼痛的循证先驱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543050" y="5385816"/>
            <a:ext cx="2057400" cy="1828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5660136"/>
            <a:ext cx="43754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860B"/>
                </a:solidFill>
              </a:rPr>
              <a:t>Stephen Lyman 两篇奠基性研究的系统综述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6071616"/>
            <a:ext cx="4375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MSSE 2001 (被引 549)  ·  AJSM 2002 (被引 769)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25830" y="6620256"/>
            <a:ext cx="3291840" cy="384048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25830" y="66202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Pitch Smart 指南的数据基础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43050" y="8229600"/>
            <a:ext cx="164592" cy="16459"/>
          </a:xfrm>
          <a:prstGeom prst="rect">
            <a:avLst/>
          </a:prstGeom>
          <a:solidFill>
            <a:srgbClr val="C0392B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54530" y="8229600"/>
            <a:ext cx="164592" cy="16459"/>
          </a:xfrm>
          <a:prstGeom prst="rect">
            <a:avLst/>
          </a:prstGeom>
          <a:solidFill>
            <a:srgbClr val="C0392B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66010" y="8229600"/>
            <a:ext cx="164592" cy="16459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8412480"/>
            <a:ext cx="4375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788"/>
                </a:solidFill>
              </a:rPr>
              <a:t>於菟子Max爱棒球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5143500" cy="502920"/>
          </a:xfrm>
          <a:prstGeom prst="rect">
            <a:avLst/>
          </a:prstGeom>
          <a:solidFill>
            <a:srgbClr val="FCFAF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20040"/>
            <a:ext cx="36576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228600"/>
            <a:ext cx="4375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研究团队：ASMI 铁三角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" y="731520"/>
            <a:ext cx="4375404" cy="10973"/>
          </a:xfrm>
          <a:prstGeom prst="rect">
            <a:avLst/>
          </a:prstGeom>
          <a:solidFill>
            <a:srgbClr val="C0392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106924" y="822960"/>
            <a:ext cx="36576" cy="6400800"/>
          </a:xfrm>
          <a:prstGeom prst="rect">
            <a:avLst/>
          </a:prstGeom>
          <a:solidFill>
            <a:srgbClr val="C0392B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2551176"/>
            <a:ext cx="4375404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2551176"/>
            <a:ext cx="41148" cy="11704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" y="2624328"/>
            <a:ext cx="228600" cy="2286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6243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" y="2587752"/>
            <a:ext cx="38267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Stephen Lyman, PhD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" y="2862072"/>
            <a:ext cx="3826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流行病学家/生物统计学家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3063240"/>
            <a:ext cx="38267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研究设计 · 大规模数据收集 · 统计建模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95528" y="3328416"/>
            <a:ext cx="38267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980B9"/>
                </a:solidFill>
              </a:rPr>
              <a:t>数据大脑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3877056"/>
            <a:ext cx="4375404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877056"/>
            <a:ext cx="41148" cy="11704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" y="3950208"/>
            <a:ext cx="228600" cy="228600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9502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" y="3913632"/>
            <a:ext cx="38267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Glenn S. Fleisig, PhD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" y="4187952"/>
            <a:ext cx="3826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全球投球生物力学权威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" y="4389120"/>
            <a:ext cx="38267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ASMI 研究主任 · 30年投球动作研究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95528" y="4654296"/>
            <a:ext cx="38267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35400"/>
                </a:solidFill>
              </a:rPr>
              <a:t>Pitch Smart 制定者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5202936"/>
            <a:ext cx="4375404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5202936"/>
            <a:ext cx="41148" cy="1170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" y="5276088"/>
            <a:ext cx="228600" cy="2286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5276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✦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5528" y="5239512"/>
            <a:ext cx="38267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James R. Andrews, MD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5528" y="5513832"/>
            <a:ext cx="3826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最著名运动骨科医生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" y="5715000"/>
            <a:ext cx="38267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Tommy John 手术代名词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95528" y="5980176"/>
            <a:ext cx="38267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392B"/>
                </a:solidFill>
              </a:rPr>
              <a:t>临床意义把关者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4048" y="6601968"/>
            <a:ext cx="4375404" cy="457200"/>
          </a:xfrm>
          <a:prstGeom prst="rect">
            <a:avLst/>
          </a:prstGeom>
          <a:solidFill>
            <a:srgbClr val="ECF6FF"/>
          </a:solidFill>
          <a:ln/>
        </p:spPr>
      </p:sp>
      <p:sp>
        <p:nvSpPr>
          <p:cNvPr id="33" name="Shape 31"/>
          <p:cNvSpPr/>
          <p:nvPr/>
        </p:nvSpPr>
        <p:spPr>
          <a:xfrm>
            <a:off x="384048" y="6601968"/>
            <a:ext cx="36576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" y="6601968"/>
            <a:ext cx="41010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980B9"/>
                </a:solidFill>
              </a:rPr>
              <a:t>分工：Fleisig 提供机制视角 → Lyman 设计+跑数据 → Andrews 拍板临床意义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8814816"/>
            <a:ext cx="5143500" cy="329184"/>
          </a:xfrm>
          <a:prstGeom prst="rect">
            <a:avLst/>
          </a:prstGeom>
          <a:solidFill>
            <a:srgbClr val="EBE7DC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8814816"/>
            <a:ext cx="5143500" cy="182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23460" y="8906256"/>
            <a:ext cx="36576" cy="36576"/>
          </a:xfrm>
          <a:prstGeom prst="ellipse">
            <a:avLst/>
          </a:prstGeom>
          <a:solidFill>
            <a:srgbClr val="C0392B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32020" y="8906256"/>
            <a:ext cx="36576" cy="36576"/>
          </a:xfrm>
          <a:prstGeom prst="ellipse">
            <a:avLst/>
          </a:prstGeom>
          <a:solidFill>
            <a:srgbClr val="C0392B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40580" y="8906256"/>
            <a:ext cx="36576" cy="36576"/>
          </a:xfrm>
          <a:prstGeom prst="ellipse">
            <a:avLst/>
          </a:prstGeom>
          <a:solidFill>
            <a:srgbClr val="C0392B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84048" y="8814816"/>
            <a:ext cx="4375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</a:rPr>
              <a:t>於菟子Max爱棒球 · Lyman et al. (2001) MSSE &amp; (2002) AJSM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5143500" cy="502920"/>
          </a:xfrm>
          <a:prstGeom prst="rect">
            <a:avLst/>
          </a:prstGeom>
          <a:solidFill>
            <a:srgbClr val="FCFAF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20040"/>
            <a:ext cx="36576" cy="3200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228600"/>
            <a:ext cx="4375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Lyman 2001 — 纵向追踪：首次量化疼痛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" y="731520"/>
            <a:ext cx="4375404" cy="10973"/>
          </a:xfrm>
          <a:prstGeom prst="rect">
            <a:avLst/>
          </a:prstGeom>
          <a:solidFill>
            <a:srgbClr val="2980B9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1525" y="1701856"/>
            <a:ext cx="27432" cy="27432"/>
          </a:xfrm>
          <a:prstGeom prst="ellipse">
            <a:avLst/>
          </a:prstGeom>
          <a:solidFill>
            <a:srgbClr val="2980B9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43050" y="1701856"/>
            <a:ext cx="27432" cy="27432"/>
          </a:xfrm>
          <a:prstGeom prst="ellipse">
            <a:avLst/>
          </a:prstGeom>
          <a:solidFill>
            <a:srgbClr val="2980B9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571750" y="1701856"/>
            <a:ext cx="27432" cy="27432"/>
          </a:xfrm>
          <a:prstGeom prst="ellipse">
            <a:avLst/>
          </a:prstGeom>
          <a:solidFill>
            <a:srgbClr val="2980B9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" y="1820728"/>
            <a:ext cx="1020699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" y="1820728"/>
            <a:ext cx="1020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298 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" y="2113336"/>
            <a:ext cx="10206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8–12 岁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14475" y="1820728"/>
            <a:ext cx="1020699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14475" y="1820728"/>
            <a:ext cx="1020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赛季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14475" y="2113336"/>
            <a:ext cx="10206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1997–98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08326" y="1820728"/>
            <a:ext cx="1020699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8326" y="1820728"/>
            <a:ext cx="1020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549 被引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8326" y="2113336"/>
            <a:ext cx="10206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MSSE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02177" y="1820728"/>
            <a:ext cx="1020699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02177" y="1820728"/>
            <a:ext cx="1020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2,699 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02177" y="2113336"/>
            <a:ext cx="10206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出场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8912" y="2570536"/>
            <a:ext cx="984123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" y="2570536"/>
            <a:ext cx="984123" cy="27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2643688"/>
            <a:ext cx="984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38912" y="3009448"/>
            <a:ext cx="9841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肘/肩疼痛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532763" y="2570536"/>
            <a:ext cx="984123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532763" y="2570536"/>
            <a:ext cx="984123" cy="274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8" name="Text 26"/>
          <p:cNvSpPr/>
          <p:nvPr/>
        </p:nvSpPr>
        <p:spPr>
          <a:xfrm>
            <a:off x="1532763" y="2643688"/>
            <a:ext cx="984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532763" y="3009448"/>
            <a:ext cx="9841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肩部疼痛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26614" y="2570536"/>
            <a:ext cx="984123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26614" y="2570536"/>
            <a:ext cx="984123" cy="274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2" name="Text 30"/>
          <p:cNvSpPr/>
          <p:nvPr/>
        </p:nvSpPr>
        <p:spPr>
          <a:xfrm>
            <a:off x="2626614" y="2643688"/>
            <a:ext cx="984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25.5%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626614" y="3009448"/>
            <a:ext cx="9841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肘部疼痛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720465" y="2570536"/>
            <a:ext cx="984123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720465" y="2570536"/>
            <a:ext cx="984123" cy="274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6" name="Text 34"/>
          <p:cNvSpPr/>
          <p:nvPr/>
        </p:nvSpPr>
        <p:spPr>
          <a:xfrm>
            <a:off x="3720465" y="2643688"/>
            <a:ext cx="984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 球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720465" y="3009448"/>
            <a:ext cx="9841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建议上限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3484936"/>
            <a:ext cx="4375404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" y="3484936"/>
            <a:ext cx="36576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" y="3530656"/>
            <a:ext cx="41010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比赛球数阈值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" y="3786688"/>
            <a:ext cx="41010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≥75 球 vs &lt;25 球 → 肩痛 OR=3.2 (P&lt;0.01)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每增 10 球，肘痛风险 ↑6%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84048" y="4445056"/>
            <a:ext cx="4375404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84048" y="4445056"/>
            <a:ext cx="36576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4" name="Text 42"/>
          <p:cNvSpPr/>
          <p:nvPr/>
        </p:nvSpPr>
        <p:spPr>
          <a:xfrm>
            <a:off x="521208" y="4490776"/>
            <a:ext cx="41010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变速球保护效应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" y="4746808"/>
            <a:ext cx="41010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11–12 岁组：投变速球 → 肘痛风险 ↓73%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(OR=0.27, P=0.01)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84048" y="5405176"/>
            <a:ext cx="4375404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4048" y="5405176"/>
            <a:ext cx="36576" cy="82296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5450896"/>
            <a:ext cx="41010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累计负荷 J 形曲线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1208" y="5706928"/>
            <a:ext cx="41010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&lt;300 球：风险最高 | 300–599：保护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≥600 球：风险回升 (OR=2.07)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84048" y="6502456"/>
            <a:ext cx="4375404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51" name="Shape 49"/>
          <p:cNvSpPr/>
          <p:nvPr/>
        </p:nvSpPr>
        <p:spPr>
          <a:xfrm>
            <a:off x="384048" y="6502456"/>
            <a:ext cx="36576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2" name="Text 50"/>
          <p:cNvSpPr/>
          <p:nvPr/>
        </p:nvSpPr>
        <p:spPr>
          <a:xfrm>
            <a:off x="493776" y="6502456"/>
            <a:ext cx="41559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💡 方法创新：首次以「自我报告疼痛」而非「临床诊断」作为终点——捕捉到「疼了但还在投」的前兆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8814816"/>
            <a:ext cx="5143500" cy="329184"/>
          </a:xfrm>
          <a:prstGeom prst="rect">
            <a:avLst/>
          </a:prstGeom>
          <a:solidFill>
            <a:srgbClr val="EBE7DC"/>
          </a:solidFill>
          <a:ln/>
        </p:spPr>
      </p:sp>
      <p:sp>
        <p:nvSpPr>
          <p:cNvPr id="54" name="Shape 52"/>
          <p:cNvSpPr/>
          <p:nvPr/>
        </p:nvSpPr>
        <p:spPr>
          <a:xfrm>
            <a:off x="0" y="8814816"/>
            <a:ext cx="5143500" cy="1828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5" name="Shape 53"/>
          <p:cNvSpPr/>
          <p:nvPr/>
        </p:nvSpPr>
        <p:spPr>
          <a:xfrm>
            <a:off x="4823460" y="8906256"/>
            <a:ext cx="36576" cy="36576"/>
          </a:xfrm>
          <a:prstGeom prst="ellipse">
            <a:avLst/>
          </a:prstGeom>
          <a:solidFill>
            <a:srgbClr val="2980B9">
              <a:alpha val="4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732020" y="8906256"/>
            <a:ext cx="36576" cy="36576"/>
          </a:xfrm>
          <a:prstGeom prst="ellipse">
            <a:avLst/>
          </a:prstGeom>
          <a:solidFill>
            <a:srgbClr val="2980B9">
              <a:alpha val="6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640580" y="8906256"/>
            <a:ext cx="36576" cy="36576"/>
          </a:xfrm>
          <a:prstGeom prst="ellipse">
            <a:avLst/>
          </a:prstGeom>
          <a:solidFill>
            <a:srgbClr val="2980B9">
              <a:alpha val="8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84048" y="8814816"/>
            <a:ext cx="4375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</a:rPr>
              <a:t>於菟子Max爱棒球 · Lyman et al. (2001) MSSE &amp; (2002) AJSM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5143500" cy="502920"/>
          </a:xfrm>
          <a:prstGeom prst="rect">
            <a:avLst/>
          </a:prstGeom>
          <a:solidFill>
            <a:srgbClr val="FCFAF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20040"/>
            <a:ext cx="36576" cy="3200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228600"/>
            <a:ext cx="4375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Lyman 2001 → 六条核心建议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" y="731520"/>
            <a:ext cx="4375404" cy="10973"/>
          </a:xfrm>
          <a:prstGeom prst="rect">
            <a:avLst/>
          </a:prstGeom>
          <a:solidFill>
            <a:srgbClr val="2980B9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841248"/>
            <a:ext cx="4375404" cy="9144"/>
          </a:xfrm>
          <a:prstGeom prst="rect">
            <a:avLst/>
          </a:prstGeom>
          <a:solidFill>
            <a:srgbClr val="B8860B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2244852"/>
            <a:ext cx="4375404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2244852"/>
            <a:ext cx="41148" cy="62179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" y="2391156"/>
            <a:ext cx="292608" cy="292608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3911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281428"/>
            <a:ext cx="3781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 球单场上限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555748"/>
            <a:ext cx="37810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肩痛 OR=3.2，超过即显著风险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994660"/>
            <a:ext cx="4375404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994660"/>
            <a:ext cx="41148" cy="62179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" y="3140964"/>
            <a:ext cx="292608" cy="292608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31409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3031236"/>
            <a:ext cx="3781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赛季限 600 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3305556"/>
            <a:ext cx="37810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肘痛风险在 600 球后回升 OR=2.07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3744468"/>
            <a:ext cx="4375404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744468"/>
            <a:ext cx="41148" cy="62179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" y="3890772"/>
            <a:ext cx="292608" cy="29260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8907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781044"/>
            <a:ext cx="3781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鼓励变速球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4055364"/>
            <a:ext cx="37810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11–12 岁组 OR=0.27 保护效应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4048" y="4494276"/>
            <a:ext cx="4375404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4494276"/>
            <a:ext cx="41148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Shape 26"/>
          <p:cNvSpPr/>
          <p:nvPr/>
        </p:nvSpPr>
        <p:spPr>
          <a:xfrm>
            <a:off x="438912" y="464058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46405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" y="4530852"/>
            <a:ext cx="3781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疲劳立即换下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805172"/>
            <a:ext cx="37810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手臂疲劳与肘肩痛强烈相关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4048" y="5244084"/>
            <a:ext cx="4375404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4048" y="5244084"/>
            <a:ext cx="41148" cy="62179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4" name="Shape 32"/>
          <p:cNvSpPr/>
          <p:nvPr/>
        </p:nvSpPr>
        <p:spPr>
          <a:xfrm>
            <a:off x="438912" y="5390388"/>
            <a:ext cx="292608" cy="292608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" y="5390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" y="5280660"/>
            <a:ext cx="3781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限制联盟外投球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1248" y="5554980"/>
            <a:ext cx="37810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旅行队等非联赛投球=独立风险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4048" y="5993892"/>
            <a:ext cx="4375404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" y="5993892"/>
            <a:ext cx="41148" cy="62179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0" name="Shape 38"/>
          <p:cNvSpPr/>
          <p:nvPr/>
        </p:nvSpPr>
        <p:spPr>
          <a:xfrm>
            <a:off x="438912" y="6140196"/>
            <a:ext cx="292608" cy="292608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41" name="Text 39"/>
          <p:cNvSpPr/>
          <p:nvPr/>
        </p:nvSpPr>
        <p:spPr>
          <a:xfrm>
            <a:off x="438912" y="61401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1248" y="6030468"/>
            <a:ext cx="3781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球数制替代局数制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1248" y="6304788"/>
            <a:ext cx="37810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年轻投手每局更多球，局数不公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84048" y="6853428"/>
            <a:ext cx="4375404" cy="502920"/>
          </a:xfrm>
          <a:prstGeom prst="rect">
            <a:avLst/>
          </a:prstGeom>
          <a:solidFill>
            <a:srgbClr val="ECF6FF"/>
          </a:solidFill>
          <a:ln/>
        </p:spPr>
      </p:sp>
      <p:sp>
        <p:nvSpPr>
          <p:cNvPr id="45" name="Shape 43"/>
          <p:cNvSpPr/>
          <p:nvPr/>
        </p:nvSpPr>
        <p:spPr>
          <a:xfrm>
            <a:off x="384048" y="6853428"/>
            <a:ext cx="36576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6" name="Text 44"/>
          <p:cNvSpPr/>
          <p:nvPr/>
        </p:nvSpPr>
        <p:spPr>
          <a:xfrm>
            <a:off x="493776" y="6853428"/>
            <a:ext cx="41559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80B9"/>
                </a:solidFill>
              </a:rPr>
              <a:t>局数限制对年轻投手不利：他们每局更多球 → 局数制 = 给更差投手更大负荷。必须用球数。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8814816"/>
            <a:ext cx="5143500" cy="329184"/>
          </a:xfrm>
          <a:prstGeom prst="rect">
            <a:avLst/>
          </a:prstGeom>
          <a:solidFill>
            <a:srgbClr val="EBE7DC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8814816"/>
            <a:ext cx="5143500" cy="1828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9" name="Shape 47"/>
          <p:cNvSpPr/>
          <p:nvPr/>
        </p:nvSpPr>
        <p:spPr>
          <a:xfrm>
            <a:off x="4823460" y="8906256"/>
            <a:ext cx="36576" cy="36576"/>
          </a:xfrm>
          <a:prstGeom prst="ellipse">
            <a:avLst/>
          </a:prstGeom>
          <a:solidFill>
            <a:srgbClr val="2980B9">
              <a:alpha val="4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732020" y="8906256"/>
            <a:ext cx="36576" cy="36576"/>
          </a:xfrm>
          <a:prstGeom prst="ellipse">
            <a:avLst/>
          </a:prstGeom>
          <a:solidFill>
            <a:srgbClr val="2980B9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640580" y="8906256"/>
            <a:ext cx="36576" cy="36576"/>
          </a:xfrm>
          <a:prstGeom prst="ellipse">
            <a:avLst/>
          </a:prstGeom>
          <a:solidFill>
            <a:srgbClr val="2980B9">
              <a:alpha val="8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84048" y="8814816"/>
            <a:ext cx="4375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</a:rPr>
              <a:t>於菟子Max爱棒球 · Lyman et al. (2001) MSSE &amp; (2002) AJSM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5143500" cy="502920"/>
          </a:xfrm>
          <a:prstGeom prst="rect">
            <a:avLst/>
          </a:prstGeom>
          <a:solidFill>
            <a:srgbClr val="FCFAF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20040"/>
            <a:ext cx="36576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228600"/>
            <a:ext cx="4375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Lyman 2002 — 球种×球数×机制三维分析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" y="731520"/>
            <a:ext cx="4375404" cy="10973"/>
          </a:xfrm>
          <a:prstGeom prst="rect">
            <a:avLst/>
          </a:prstGeom>
          <a:solidFill>
            <a:srgbClr val="C0392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841248"/>
            <a:ext cx="4375404" cy="9144"/>
          </a:xfrm>
          <a:prstGeom prst="rect">
            <a:avLst/>
          </a:prstGeom>
          <a:solidFill>
            <a:srgbClr val="B8860B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68880" y="813816"/>
            <a:ext cx="27432" cy="274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2571750" y="813816"/>
            <a:ext cx="27432" cy="27432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10" name="Shape 8"/>
          <p:cNvSpPr/>
          <p:nvPr/>
        </p:nvSpPr>
        <p:spPr>
          <a:xfrm>
            <a:off x="2674620" y="813816"/>
            <a:ext cx="27432" cy="2743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" y="1987471"/>
            <a:ext cx="1020699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" y="1987471"/>
            <a:ext cx="1020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476 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" y="2280079"/>
            <a:ext cx="10206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9–14 岁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14475" y="1987471"/>
            <a:ext cx="1020699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14475" y="1987471"/>
            <a:ext cx="1020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整季追踪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14475" y="2280079"/>
            <a:ext cx="10206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1999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08326" y="1987471"/>
            <a:ext cx="1020699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08326" y="1987471"/>
            <a:ext cx="1020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769 被引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8326" y="2280079"/>
            <a:ext cx="10206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AJSM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02177" y="1987471"/>
            <a:ext cx="1020699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02177" y="1987471"/>
            <a:ext cx="1020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首个三维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02177" y="2280079"/>
            <a:ext cx="10206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球种+球数+机制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4048" y="2764711"/>
            <a:ext cx="1025271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2764711"/>
            <a:ext cx="1025271" cy="320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874439"/>
            <a:ext cx="1025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曲 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" y="3167047"/>
            <a:ext cx="10252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Curveball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50380" y="3423079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750380" y="342307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⚠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" y="3770551"/>
            <a:ext cx="933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OR≈1.6–1.8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9768" y="4044871"/>
            <a:ext cx="9338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肩部风险 ↑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00759" y="2764711"/>
            <a:ext cx="1025271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500759" y="2764711"/>
            <a:ext cx="1025271" cy="32004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3" name="Text 31"/>
          <p:cNvSpPr/>
          <p:nvPr/>
        </p:nvSpPr>
        <p:spPr>
          <a:xfrm>
            <a:off x="1500759" y="2874439"/>
            <a:ext cx="1025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滑 球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500759" y="3167047"/>
            <a:ext cx="10252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Slider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67091" y="3423079"/>
            <a:ext cx="292608" cy="292608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36" name="Text 34"/>
          <p:cNvSpPr/>
          <p:nvPr/>
        </p:nvSpPr>
        <p:spPr>
          <a:xfrm>
            <a:off x="1867091" y="342307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⚠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546479" y="3770551"/>
            <a:ext cx="933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OR≈1.8–2.0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46479" y="4044871"/>
            <a:ext cx="9338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肘部风险 ↑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17470" y="2764711"/>
            <a:ext cx="1025271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617470" y="2764711"/>
            <a:ext cx="1025271" cy="3200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Text 39"/>
          <p:cNvSpPr/>
          <p:nvPr/>
        </p:nvSpPr>
        <p:spPr>
          <a:xfrm>
            <a:off x="2617470" y="2874439"/>
            <a:ext cx="1025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变速球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617470" y="3167047"/>
            <a:ext cx="10252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Changeup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983802" y="3423079"/>
            <a:ext cx="292608" cy="29260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4" name="Text 42"/>
          <p:cNvSpPr/>
          <p:nvPr/>
        </p:nvSpPr>
        <p:spPr>
          <a:xfrm>
            <a:off x="2983802" y="342307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663190" y="3770551"/>
            <a:ext cx="933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最安全选择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663190" y="4044871"/>
            <a:ext cx="9338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未增加风险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34181" y="2764711"/>
            <a:ext cx="1025271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734181" y="2764711"/>
            <a:ext cx="1025271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9" name="Text 47"/>
          <p:cNvSpPr/>
          <p:nvPr/>
        </p:nvSpPr>
        <p:spPr>
          <a:xfrm>
            <a:off x="3734181" y="2874439"/>
            <a:ext cx="1025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快 球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734181" y="3167047"/>
            <a:ext cx="10252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Fastball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00513" y="3423079"/>
            <a:ext cx="292608" cy="292608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52" name="Text 50"/>
          <p:cNvSpPr/>
          <p:nvPr/>
        </p:nvSpPr>
        <p:spPr>
          <a:xfrm>
            <a:off x="4100513" y="342307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779901" y="3770551"/>
            <a:ext cx="933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基准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779901" y="4044871"/>
            <a:ext cx="9338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基线参照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84048" y="4684951"/>
            <a:ext cx="4375404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84048" y="4684951"/>
            <a:ext cx="36576" cy="53035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703239"/>
            <a:ext cx="4101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剂量-反应关系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1208" y="4940983"/>
            <a:ext cx="41010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控制球种+机制后，球数仍独立与疼痛显著相关 — 为 Pitch Smart 定量限制提供依据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84048" y="5343319"/>
            <a:ext cx="4375404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84048" y="5343319"/>
            <a:ext cx="36576" cy="5303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1" name="Text 59"/>
          <p:cNvSpPr/>
          <p:nvPr/>
        </p:nvSpPr>
        <p:spPr>
          <a:xfrm>
            <a:off x="521208" y="5361607"/>
            <a:ext cx="4101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机制独立风险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21208" y="5599351"/>
            <a:ext cx="41010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侧投、过早开躯干等机制问题 → 在球种球数之上叠加额外风险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84048" y="6147991"/>
            <a:ext cx="4375404" cy="64008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21208" y="6147991"/>
            <a:ext cx="41010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首次量化「曲球伤肩、滑球伤肘」——直接转化为 Pitch Smart 年龄分层球种限制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8814816"/>
            <a:ext cx="5143500" cy="329184"/>
          </a:xfrm>
          <a:prstGeom prst="rect">
            <a:avLst/>
          </a:prstGeom>
          <a:solidFill>
            <a:srgbClr val="EBE7DC"/>
          </a:solidFill>
          <a:ln/>
        </p:spPr>
      </p:sp>
      <p:sp>
        <p:nvSpPr>
          <p:cNvPr id="66" name="Shape 64"/>
          <p:cNvSpPr/>
          <p:nvPr/>
        </p:nvSpPr>
        <p:spPr>
          <a:xfrm>
            <a:off x="0" y="8814816"/>
            <a:ext cx="5143500" cy="182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7" name="Shape 65"/>
          <p:cNvSpPr/>
          <p:nvPr/>
        </p:nvSpPr>
        <p:spPr>
          <a:xfrm>
            <a:off x="4823460" y="8906256"/>
            <a:ext cx="36576" cy="36576"/>
          </a:xfrm>
          <a:prstGeom prst="ellipse">
            <a:avLst/>
          </a:prstGeom>
          <a:solidFill>
            <a:srgbClr val="C0392B">
              <a:alpha val="4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732020" y="8906256"/>
            <a:ext cx="36576" cy="36576"/>
          </a:xfrm>
          <a:prstGeom prst="ellipse">
            <a:avLst/>
          </a:prstGeom>
          <a:solidFill>
            <a:srgbClr val="C0392B">
              <a:alpha val="6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640580" y="8906256"/>
            <a:ext cx="36576" cy="36576"/>
          </a:xfrm>
          <a:prstGeom prst="ellipse">
            <a:avLst/>
          </a:prstGeom>
          <a:solidFill>
            <a:srgbClr val="C0392B">
              <a:alpha val="8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384048" y="8814816"/>
            <a:ext cx="4375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</a:rPr>
              <a:t>於菟子Max爱棒球 · Lyman et al. (2001) MSSE &amp; (2002) AJSM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5143500" cy="502920"/>
          </a:xfrm>
          <a:prstGeom prst="rect">
            <a:avLst/>
          </a:prstGeom>
          <a:solidFill>
            <a:srgbClr val="FCFAF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20040"/>
            <a:ext cx="36576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228600"/>
            <a:ext cx="4375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合并解读：从数据到训练实践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" y="731520"/>
            <a:ext cx="4375404" cy="10973"/>
          </a:xfrm>
          <a:prstGeom prst="rect">
            <a:avLst/>
          </a:prstGeom>
          <a:solidFill>
            <a:srgbClr val="27AE6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869180" y="868680"/>
            <a:ext cx="36576" cy="36576"/>
          </a:xfrm>
          <a:prstGeom prst="ellipse">
            <a:avLst/>
          </a:prstGeom>
          <a:solidFill>
            <a:srgbClr val="27AE60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77740" y="868680"/>
            <a:ext cx="54864" cy="54864"/>
          </a:xfrm>
          <a:prstGeom prst="ellipse">
            <a:avLst/>
          </a:prstGeom>
          <a:solidFill>
            <a:srgbClr val="27AE60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84048" y="2345436"/>
            <a:ext cx="4375404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345436"/>
            <a:ext cx="41148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54660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466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2391156"/>
            <a:ext cx="3735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疼痛即是前兆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2665476"/>
            <a:ext cx="37353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不必等诊断——投手说疼就停。47% 报告率意味着这是常态而非例外。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3305556"/>
            <a:ext cx="4375404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305556"/>
            <a:ext cx="41148" cy="8229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506724"/>
            <a:ext cx="347472" cy="34747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067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" y="3351276"/>
            <a:ext cx="3735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精细化球种限制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" y="3625596"/>
            <a:ext cx="37353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曲球→肩 | 滑球→肘 | 变速球=安全。Pitch Smart 据此制定年龄分层规则。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4265676"/>
            <a:ext cx="4375404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4265676"/>
            <a:ext cx="41148" cy="82296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466844"/>
            <a:ext cx="347472" cy="347472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668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6968" y="4311396"/>
            <a:ext cx="3735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三维同时管理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" y="4585716"/>
            <a:ext cx="37353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球种·球数·机制必须同时控制。忽略任一 = 仍然高风险。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5225796"/>
            <a:ext cx="4375404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5225796"/>
            <a:ext cx="41148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426964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4269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6968" y="5271516"/>
            <a:ext cx="3735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J形累积曲线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" y="5545836"/>
            <a:ext cx="37353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&lt;300球风险最高(太少) → 300-599 保护 → ≥600 回升。比 ACWR 早15年。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" y="6185916"/>
            <a:ext cx="4375404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048" y="6185916"/>
            <a:ext cx="41148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6387084"/>
            <a:ext cx="347472" cy="347472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387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6968" y="6231636"/>
            <a:ext cx="3735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局数制已过时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86968" y="6505956"/>
            <a:ext cx="37353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年轻投手每局更多球 → 局数制给更差投手更大负荷。必须用球数。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8814816"/>
            <a:ext cx="5143500" cy="329184"/>
          </a:xfrm>
          <a:prstGeom prst="rect">
            <a:avLst/>
          </a:prstGeom>
          <a:solidFill>
            <a:srgbClr val="EBE7DC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8814816"/>
            <a:ext cx="5143500" cy="182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Shape 39"/>
          <p:cNvSpPr/>
          <p:nvPr/>
        </p:nvSpPr>
        <p:spPr>
          <a:xfrm>
            <a:off x="4823460" y="8906256"/>
            <a:ext cx="36576" cy="36576"/>
          </a:xfrm>
          <a:prstGeom prst="ellipse">
            <a:avLst/>
          </a:prstGeom>
          <a:solidFill>
            <a:srgbClr val="27AE60">
              <a:alpha val="4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32020" y="8906256"/>
            <a:ext cx="36576" cy="36576"/>
          </a:xfrm>
          <a:prstGeom prst="ellipse">
            <a:avLst/>
          </a:prstGeom>
          <a:solidFill>
            <a:srgbClr val="27AE60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640580" y="8906256"/>
            <a:ext cx="36576" cy="36576"/>
          </a:xfrm>
          <a:prstGeom prst="ellipse">
            <a:avLst/>
          </a:prstGeom>
          <a:solidFill>
            <a:srgbClr val="27AE60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84048" y="8814816"/>
            <a:ext cx="4375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</a:rPr>
              <a:t>於菟子Max爱棒球 · Lyman et al. (2001) MSSE &amp; (2002) AJSM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5143500" cy="502920"/>
          </a:xfrm>
          <a:prstGeom prst="rect">
            <a:avLst/>
          </a:prstGeom>
          <a:solidFill>
            <a:srgbClr val="FCFAF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20040"/>
            <a:ext cx="36576" cy="320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228600"/>
            <a:ext cx="4375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Pitch Smart 遗产：数据改变行业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" y="731520"/>
            <a:ext cx="4375404" cy="10973"/>
          </a:xfrm>
          <a:prstGeom prst="rect">
            <a:avLst/>
          </a:prstGeom>
          <a:solidFill>
            <a:srgbClr val="B8860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841248"/>
            <a:ext cx="4375404" cy="9144"/>
          </a:xfrm>
          <a:prstGeom prst="rect">
            <a:avLst/>
          </a:prstGeom>
          <a:solidFill>
            <a:srgbClr val="B8860B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1051560"/>
            <a:ext cx="4375404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051560"/>
            <a:ext cx="41148" cy="2331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" y="1097280"/>
            <a:ext cx="415594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✅  球数限制 → 年龄分层（7–18 岁，每级不同上限）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✅  休息天数 → 基于单场球数的强制休投天数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✅  球种限制 → 14岁前不投曲球，16岁前不投滑球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✅  全年投球 → 限制旅行队等联盟外比赛投球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✅  教练教育 → 强制完成安全投球指南培训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✅  赛前体检 → 作为运动员注册的必要条件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3657600"/>
            <a:ext cx="1002411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" y="3657600"/>
            <a:ext cx="1002411" cy="320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3730752"/>
            <a:ext cx="1002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" y="4160520"/>
            <a:ext cx="10024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Pitch Smart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制定者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523619" y="3657600"/>
            <a:ext cx="1002411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523619" y="3657600"/>
            <a:ext cx="1002411" cy="320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1523619" y="3730752"/>
            <a:ext cx="1002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全美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23619" y="4160520"/>
            <a:ext cx="10024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青少年联赛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采纳球数制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17470" y="3657600"/>
            <a:ext cx="1002411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17470" y="3657600"/>
            <a:ext cx="1002411" cy="320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2617470" y="3730752"/>
            <a:ext cx="1002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1300+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617470" y="4160520"/>
            <a:ext cx="10024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被引次数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持续推动变革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11321" y="3657600"/>
            <a:ext cx="1002411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11321" y="3657600"/>
            <a:ext cx="1002411" cy="320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3711321" y="3730752"/>
            <a:ext cx="1002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全球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11321" y="4160520"/>
            <a:ext cx="10024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日/韩/台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跟进规则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" y="5029200"/>
            <a:ext cx="4375404" cy="1828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5138928"/>
            <a:ext cx="4375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从研究到实践的演进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" y="5468112"/>
            <a:ext cx="710489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5468112"/>
            <a:ext cx="7104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1990s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局数制×无数据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112825" y="5468112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268273" y="5468112"/>
            <a:ext cx="710489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3" name="Text 31"/>
          <p:cNvSpPr/>
          <p:nvPr/>
        </p:nvSpPr>
        <p:spPr>
          <a:xfrm>
            <a:off x="1268273" y="5468112"/>
            <a:ext cx="7104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Lyman 2001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首次追踪疼痛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997050" y="5468112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152498" y="5468112"/>
            <a:ext cx="710489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6" name="Text 34"/>
          <p:cNvSpPr/>
          <p:nvPr/>
        </p:nvSpPr>
        <p:spPr>
          <a:xfrm>
            <a:off x="2152498" y="5468112"/>
            <a:ext cx="7104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Lyman 2002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三维分析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881274" y="5468112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036722" y="5468112"/>
            <a:ext cx="710489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3036722" y="5468112"/>
            <a:ext cx="7104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Pitch Smart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发布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765499" y="5468112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20947" y="5468112"/>
            <a:ext cx="710489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3920947" y="5468112"/>
            <a:ext cx="7104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全美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采纳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84048" y="6263640"/>
            <a:ext cx="4375404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21208" y="6263640"/>
            <a:ext cx="41010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Lyman 不是一个家喻户晓的名字，但他的数据改变了全美青少年棒球安全标准。1300+引用 = 1300+次循证保护。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8814816"/>
            <a:ext cx="5143500" cy="329184"/>
          </a:xfrm>
          <a:prstGeom prst="rect">
            <a:avLst/>
          </a:prstGeom>
          <a:solidFill>
            <a:srgbClr val="EBE7DC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8814816"/>
            <a:ext cx="5143500" cy="1828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7" name="Shape 45"/>
          <p:cNvSpPr/>
          <p:nvPr/>
        </p:nvSpPr>
        <p:spPr>
          <a:xfrm>
            <a:off x="4823460" y="8906256"/>
            <a:ext cx="36576" cy="36576"/>
          </a:xfrm>
          <a:prstGeom prst="ellipse">
            <a:avLst/>
          </a:prstGeom>
          <a:solidFill>
            <a:srgbClr val="B8860B">
              <a:alpha val="4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32020" y="8906256"/>
            <a:ext cx="36576" cy="36576"/>
          </a:xfrm>
          <a:prstGeom prst="ellipse">
            <a:avLst/>
          </a:prstGeom>
          <a:solidFill>
            <a:srgbClr val="B8860B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640580" y="8906256"/>
            <a:ext cx="36576" cy="36576"/>
          </a:xfrm>
          <a:prstGeom prst="ellipse">
            <a:avLst/>
          </a:prstGeom>
          <a:solidFill>
            <a:srgbClr val="B8860B">
              <a:alpha val="8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84048" y="8814816"/>
            <a:ext cx="4375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</a:rPr>
              <a:t>於菟子Max爱棒球 · Lyman et al. (2001) MSSE &amp; (2002) AJSM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320540" y="4572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C0392B"/>
                </a:solidFill>
              </a:rPr>
              <a:t>⚾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84048" y="2286000"/>
            <a:ext cx="43754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谢谢阅读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543050" y="3200400"/>
            <a:ext cx="2057400" cy="1828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3474720"/>
            <a:ext cx="43754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Lyman et al. (2001). Med Sci Sports Exerc, 33(11):1803–1810.
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Lyman et al. (2002). Am J Sports Med, 30(4):463–468.
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</a:rPr>
              <a:t>ASMI · 美国运动医学研究所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28700" y="4846320"/>
            <a:ext cx="308610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700" y="48463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860B"/>
                </a:solidFill>
              </a:rPr>
              <a:t>於菟子Max爱棒球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5875" y="5760720"/>
            <a:ext cx="137160" cy="16459"/>
          </a:xfrm>
          <a:prstGeom prst="rect">
            <a:avLst/>
          </a:prstGeom>
          <a:solidFill>
            <a:srgbClr val="C0392B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43075" y="5760720"/>
            <a:ext cx="137160" cy="16459"/>
          </a:xfrm>
          <a:prstGeom prst="rect">
            <a:avLst/>
          </a:prstGeom>
          <a:solidFill>
            <a:srgbClr val="C0392B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200275" y="5760720"/>
            <a:ext cx="137160" cy="16459"/>
          </a:xfrm>
          <a:prstGeom prst="rect">
            <a:avLst/>
          </a:prstGeom>
          <a:solidFill>
            <a:srgbClr val="C0392B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657475" y="5760720"/>
            <a:ext cx="137160" cy="16459"/>
          </a:xfrm>
          <a:prstGeom prst="rect">
            <a:avLst/>
          </a:prstGeom>
          <a:solidFill>
            <a:srgbClr val="C0392B">
              <a:alpha val="6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652</Words>
  <Application>Microsoft Macintosh PowerPoint</Application>
  <PresentationFormat>全屏显示(16:9)</PresentationFormat>
  <Paragraphs>177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Lyman 青少年棒球投球疼痛研究综述</dc:title>
  <dc:subject>PptxGenJS Presentation</dc:subject>
  <dc:creator>於菟子Max爱棒球</dc:creator>
  <cp:lastModifiedBy>富华 刘</cp:lastModifiedBy>
  <cp:revision>2</cp:revision>
  <dcterms:created xsi:type="dcterms:W3CDTF">2026-07-06T02:44:35Z</dcterms:created>
  <dcterms:modified xsi:type="dcterms:W3CDTF">2026-07-06T02:49:34Z</dcterms:modified>
</cp:coreProperties>
</file>