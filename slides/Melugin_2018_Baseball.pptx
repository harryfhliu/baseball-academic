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C41E3A"/>
          </a:solidFill>
          <a:ln/>
        </p:spPr>
      </p:sp>
      <p:sp>
        <p:nvSpPr>
          <p:cNvPr id="3" name="Shape 1"/>
          <p:cNvSpPr/>
          <p:nvPr/>
        </p:nvSpPr>
        <p:spPr>
          <a:xfrm>
            <a:off x="3474720" y="457200"/>
            <a:ext cx="1280160" cy="1280160"/>
          </a:xfrm>
          <a:prstGeom prst="rect">
            <a:avLst/>
          </a:prstGeom>
          <a:solidFill>
            <a:srgbClr val="FFFFFF">
              <a:alpha val="8000"/>
            </a:srgbClr>
          </a:solidFill>
          <a:ln/>
        </p:spPr>
      </p:sp>
      <p:sp>
        <p:nvSpPr>
          <p:cNvPr id="4" name="Text 2"/>
          <p:cNvSpPr/>
          <p:nvPr/>
        </p:nvSpPr>
        <p:spPr>
          <a:xfrm>
            <a:off x="3474720" y="457200"/>
            <a:ext cx="1280160" cy="1280160"/>
          </a:xfrm>
          <a:prstGeom prst="rect">
            <a:avLst/>
          </a:prstGeom>
          <a:noFill/>
          <a:ln/>
        </p:spPr>
        <p:txBody>
          <a:bodyPr wrap="square" lIns="0" tIns="0" rIns="0" bIns="0" rtlCol="0" anchor="ctr"/>
          <a:lstStyle/>
          <a:p>
            <a:pPr algn="ctr" indent="0" marL="0">
              <a:buNone/>
            </a:pPr>
            <a:r>
              <a:rPr lang="en-US" sz="4800" dirty="0">
                <a:solidFill>
                  <a:srgbClr val="C41E3A"/>
                </a:solidFill>
              </a:rPr>
              <a:t>⚾</a:t>
            </a:r>
            <a:endParaRPr lang="en-US" sz="4800" dirty="0"/>
          </a:p>
        </p:txBody>
      </p:sp>
      <p:sp>
        <p:nvSpPr>
          <p:cNvPr id="5" name="Text 3"/>
          <p:cNvSpPr/>
          <p:nvPr/>
        </p:nvSpPr>
        <p:spPr>
          <a:xfrm>
            <a:off x="365760" y="1828800"/>
            <a:ext cx="4411980" cy="1097280"/>
          </a:xfrm>
          <a:prstGeom prst="rect">
            <a:avLst/>
          </a:prstGeom>
          <a:noFill/>
          <a:ln/>
        </p:spPr>
        <p:txBody>
          <a:bodyPr wrap="square" lIns="0" tIns="0" rIns="0" bIns="0" rtlCol="0" anchor="ctr"/>
          <a:lstStyle/>
          <a:p>
            <a:pPr algn="ctr" indent="0" marL="0">
              <a:buNone/>
            </a:pPr>
            <a:r>
              <a:rPr lang="en-US" sz="3400" dirty="0">
                <a:solidFill>
                  <a:srgbClr val="FFFFFF"/>
                </a:solidFill>
                <a:latin typeface="Arial Black" pitchFamily="34" charset="0"/>
                <a:ea typeface="Arial Black" pitchFamily="34" charset="-122"/>
                <a:cs typeface="Arial Black" pitchFamily="34" charset="-120"/>
              </a:rPr>
              <a:t>棒球损伤预防</a:t>
            </a:r>
            <a:endParaRPr lang="en-US" sz="3400" dirty="0"/>
          </a:p>
        </p:txBody>
      </p:sp>
      <p:sp>
        <p:nvSpPr>
          <p:cNvPr id="6" name="Text 4"/>
          <p:cNvSpPr/>
          <p:nvPr/>
        </p:nvSpPr>
        <p:spPr>
          <a:xfrm>
            <a:off x="365760" y="2926080"/>
            <a:ext cx="4411980" cy="914400"/>
          </a:xfrm>
          <a:prstGeom prst="rect">
            <a:avLst/>
          </a:prstGeom>
          <a:noFill/>
          <a:ln/>
        </p:spPr>
        <p:txBody>
          <a:bodyPr wrap="square" lIns="0" tIns="0" rIns="0" bIns="0" rtlCol="0" anchor="ctr"/>
          <a:lstStyle/>
          <a:p>
            <a:pPr algn="ctr" indent="0" marL="0">
              <a:buNone/>
            </a:pPr>
            <a:r>
              <a:rPr lang="en-US" sz="2800" dirty="0">
                <a:solidFill>
                  <a:srgbClr val="D4AF37"/>
                </a:solidFill>
                <a:latin typeface="Arial Black" pitchFamily="34" charset="0"/>
                <a:ea typeface="Arial Black" pitchFamily="34" charset="-122"/>
                <a:cs typeface="Arial Black" pitchFamily="34" charset="-120"/>
              </a:rPr>
              <a:t>从青少年到职业</a:t>
            </a:r>
            <a:endParaRPr lang="en-US" sz="2800" dirty="0"/>
          </a:p>
        </p:txBody>
      </p:sp>
      <p:sp>
        <p:nvSpPr>
          <p:cNvPr id="7" name="Shape 5"/>
          <p:cNvSpPr/>
          <p:nvPr/>
        </p:nvSpPr>
        <p:spPr>
          <a:xfrm>
            <a:off x="1543050" y="4114800"/>
            <a:ext cx="2057400" cy="22860"/>
          </a:xfrm>
          <a:prstGeom prst="rect">
            <a:avLst/>
          </a:prstGeom>
          <a:solidFill>
            <a:srgbClr val="D4AF37"/>
          </a:solidFill>
          <a:ln/>
        </p:spPr>
      </p:sp>
      <p:sp>
        <p:nvSpPr>
          <p:cNvPr id="8" name="Text 6"/>
          <p:cNvSpPr/>
          <p:nvPr/>
        </p:nvSpPr>
        <p:spPr>
          <a:xfrm>
            <a:off x="365760" y="4389120"/>
            <a:ext cx="4411980" cy="457200"/>
          </a:xfrm>
          <a:prstGeom prst="rect">
            <a:avLst/>
          </a:prstGeom>
          <a:noFill/>
          <a:ln/>
        </p:spPr>
        <p:txBody>
          <a:bodyPr wrap="square" rtlCol="0" anchor="ctr"/>
          <a:lstStyle/>
          <a:p>
            <a:pPr algn="ctr" indent="0" marL="0">
              <a:buNone/>
            </a:pPr>
            <a:r>
              <a:rPr lang="en-US" sz="1050" dirty="0">
                <a:solidFill>
                  <a:srgbClr val="D4AF37"/>
                </a:solidFill>
                <a:latin typeface="Calibri" pitchFamily="34" charset="0"/>
                <a:ea typeface="Calibri" pitchFamily="34" charset="-122"/>
                <a:cs typeface="Calibri" pitchFamily="34" charset="-120"/>
              </a:rPr>
              <a:t>Melugin HP · Leafblad ND · Camp CL · Conte S</a:t>
            </a:r>
            <a:endParaRPr lang="en-US" sz="1050" dirty="0"/>
          </a:p>
        </p:txBody>
      </p:sp>
      <p:sp>
        <p:nvSpPr>
          <p:cNvPr id="9" name="Text 7"/>
          <p:cNvSpPr/>
          <p:nvPr/>
        </p:nvSpPr>
        <p:spPr>
          <a:xfrm>
            <a:off x="640080" y="4846320"/>
            <a:ext cx="3863340" cy="457200"/>
          </a:xfrm>
          <a:prstGeom prst="rect">
            <a:avLst/>
          </a:prstGeom>
          <a:noFill/>
          <a:ln/>
        </p:spPr>
        <p:txBody>
          <a:bodyPr wrap="square" rtlCol="0" anchor="ctr"/>
          <a:lstStyle/>
          <a:p>
            <a:pPr algn="ctr" indent="0" marL="0">
              <a:buNone/>
            </a:pPr>
            <a:r>
              <a:rPr lang="en-US" sz="850" dirty="0">
                <a:solidFill>
                  <a:srgbClr val="8899AA"/>
                </a:solidFill>
              </a:rPr>
              <a:t>Current Reviews in Musculoskeletal Medicine · 2018 · Vol.11 pp.26–34</a:t>
            </a:r>
            <a:endParaRPr lang="en-US" sz="850" dirty="0"/>
          </a:p>
        </p:txBody>
      </p:sp>
      <p:sp>
        <p:nvSpPr>
          <p:cNvPr id="10" name="Shape 8"/>
          <p:cNvSpPr/>
          <p:nvPr/>
        </p:nvSpPr>
        <p:spPr>
          <a:xfrm>
            <a:off x="925830" y="5440680"/>
            <a:ext cx="3291840" cy="411480"/>
          </a:xfrm>
          <a:prstGeom prst="rect">
            <a:avLst/>
          </a:prstGeom>
          <a:solidFill>
            <a:srgbClr val="FFFFFF">
              <a:alpha val="10000"/>
            </a:srgbClr>
          </a:solidFill>
          <a:ln w="10160">
            <a:solidFill>
              <a:srgbClr val="D4AF37"/>
            </a:solidFill>
            <a:prstDash val="solid"/>
          </a:ln>
        </p:spPr>
      </p:sp>
      <p:sp>
        <p:nvSpPr>
          <p:cNvPr id="11" name="Text 9"/>
          <p:cNvSpPr/>
          <p:nvPr/>
        </p:nvSpPr>
        <p:spPr>
          <a:xfrm>
            <a:off x="925830" y="5440680"/>
            <a:ext cx="3291840" cy="411480"/>
          </a:xfrm>
          <a:prstGeom prst="rect">
            <a:avLst/>
          </a:prstGeom>
          <a:noFill/>
          <a:ln/>
        </p:spPr>
        <p:txBody>
          <a:bodyPr wrap="square" lIns="0" tIns="0" rIns="0" bIns="0" rtlCol="0" anchor="ctr"/>
          <a:lstStyle/>
          <a:p>
            <a:pPr algn="ctr" indent="0" marL="0">
              <a:buNone/>
            </a:pPr>
            <a:r>
              <a:rPr lang="en-US" sz="850" dirty="0">
                <a:solidFill>
                  <a:srgbClr val="8899AA"/>
                </a:solidFill>
              </a:rPr>
              <a:t>Mayo Clinic  ·  Santa Clara University</a:t>
            </a:r>
            <a:endParaRPr lang="en-US" sz="850" dirty="0"/>
          </a:p>
        </p:txBody>
      </p:sp>
      <p:sp>
        <p:nvSpPr>
          <p:cNvPr id="12" name="Shape 10"/>
          <p:cNvSpPr/>
          <p:nvPr/>
        </p:nvSpPr>
        <p:spPr>
          <a:xfrm>
            <a:off x="1028700" y="6126480"/>
            <a:ext cx="3086100" cy="411480"/>
          </a:xfrm>
          <a:prstGeom prst="rect">
            <a:avLst/>
          </a:prstGeom>
          <a:solidFill>
            <a:srgbClr val="C41E3A"/>
          </a:solidFill>
          <a:ln/>
        </p:spPr>
      </p:sp>
      <p:sp>
        <p:nvSpPr>
          <p:cNvPr id="13" name="Text 11"/>
          <p:cNvSpPr/>
          <p:nvPr/>
        </p:nvSpPr>
        <p:spPr>
          <a:xfrm>
            <a:off x="1028700" y="6126480"/>
            <a:ext cx="3086100" cy="411480"/>
          </a:xfrm>
          <a:prstGeom prst="rect">
            <a:avLst/>
          </a:prstGeom>
          <a:noFill/>
          <a:ln/>
        </p:spPr>
        <p:txBody>
          <a:bodyPr wrap="square" lIns="0" tIns="0" rIns="0" bIns="0" rtlCol="0" anchor="ctr"/>
          <a:lstStyle/>
          <a:p>
            <a:pPr algn="ctr" indent="0" marL="0">
              <a:buNone/>
            </a:pPr>
            <a:r>
              <a:rPr lang="en-US" sz="1100" b="1" dirty="0">
                <a:solidFill>
                  <a:srgbClr val="FFFFFF"/>
                </a:solidFill>
              </a:rPr>
              <a:t>★★★★★  最直接相关的综述</a:t>
            </a:r>
            <a:endParaRPr lang="en-US" sz="1100" dirty="0"/>
          </a:p>
        </p:txBody>
      </p:sp>
      <p:sp>
        <p:nvSpPr>
          <p:cNvPr id="14" name="Shape 12"/>
          <p:cNvSpPr/>
          <p:nvPr/>
        </p:nvSpPr>
        <p:spPr>
          <a:xfrm>
            <a:off x="0" y="7132320"/>
            <a:ext cx="5143500" cy="36576"/>
          </a:xfrm>
          <a:prstGeom prst="rect">
            <a:avLst/>
          </a:prstGeom>
          <a:solidFill>
            <a:srgbClr val="C41E3A"/>
          </a:solidFill>
          <a:ln/>
        </p:spPr>
      </p:sp>
      <p:sp>
        <p:nvSpPr>
          <p:cNvPr id="15" name="Text 13"/>
          <p:cNvSpPr/>
          <p:nvPr/>
        </p:nvSpPr>
        <p:spPr>
          <a:xfrm>
            <a:off x="365760" y="7498080"/>
            <a:ext cx="4411980" cy="457200"/>
          </a:xfrm>
          <a:prstGeom prst="rect">
            <a:avLst/>
          </a:prstGeom>
          <a:noFill/>
          <a:ln/>
        </p:spPr>
        <p:txBody>
          <a:bodyPr wrap="square" rtlCol="0" anchor="ctr"/>
          <a:lstStyle/>
          <a:p>
            <a:pPr algn="ctr" indent="0" marL="0">
              <a:buNone/>
            </a:pPr>
            <a:r>
              <a:rPr lang="en-US" sz="900" dirty="0">
                <a:solidFill>
                  <a:srgbClr val="667788"/>
                </a:solidFill>
              </a:rPr>
              <a:t>编者：於菟子Max爱棒球</a:t>
            </a:r>
            <a:endParaRPr lang="en-US" sz="900" dirty="0"/>
          </a:p>
        </p:txBody>
      </p:sp>
      <p:sp>
        <p:nvSpPr>
          <p:cNvPr id="16" name="Shape 14"/>
          <p:cNvSpPr/>
          <p:nvPr/>
        </p:nvSpPr>
        <p:spPr>
          <a:xfrm>
            <a:off x="1463040" y="8229600"/>
            <a:ext cx="457200" cy="16459"/>
          </a:xfrm>
          <a:prstGeom prst="rect">
            <a:avLst/>
          </a:prstGeom>
          <a:solidFill>
            <a:srgbClr val="C41E3A">
              <a:alpha val="40000"/>
            </a:srgbClr>
          </a:solidFill>
          <a:ln/>
        </p:spPr>
      </p:sp>
      <p:sp>
        <p:nvSpPr>
          <p:cNvPr id="17" name="Shape 15"/>
          <p:cNvSpPr/>
          <p:nvPr/>
        </p:nvSpPr>
        <p:spPr>
          <a:xfrm>
            <a:off x="2377440" y="8229600"/>
            <a:ext cx="457200" cy="16459"/>
          </a:xfrm>
          <a:prstGeom prst="rect">
            <a:avLst/>
          </a:prstGeom>
          <a:solidFill>
            <a:srgbClr val="C41E3A">
              <a:alpha val="60000"/>
            </a:srgbClr>
          </a:solidFill>
          <a:ln/>
        </p:spPr>
      </p:sp>
      <p:sp>
        <p:nvSpPr>
          <p:cNvPr id="18" name="Shape 16"/>
          <p:cNvSpPr/>
          <p:nvPr/>
        </p:nvSpPr>
        <p:spPr>
          <a:xfrm>
            <a:off x="3291840" y="8229600"/>
            <a:ext cx="457200" cy="16459"/>
          </a:xfrm>
          <a:prstGeom prst="rect">
            <a:avLst/>
          </a:prstGeom>
          <a:solidFill>
            <a:srgbClr val="C41E3A">
              <a:alpha val="8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C41E3A"/>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核心摘要</a:t>
            </a:r>
            <a:endParaRPr lang="en-US" sz="2000" dirty="0"/>
          </a:p>
        </p:txBody>
      </p:sp>
      <p:sp>
        <p:nvSpPr>
          <p:cNvPr id="5" name="Shape 3"/>
          <p:cNvSpPr/>
          <p:nvPr/>
        </p:nvSpPr>
        <p:spPr>
          <a:xfrm>
            <a:off x="365760" y="1371600"/>
            <a:ext cx="4411980" cy="1234440"/>
          </a:xfrm>
          <a:prstGeom prst="rect">
            <a:avLst/>
          </a:prstGeom>
          <a:solidFill>
            <a:srgbClr val="1A3A5C"/>
          </a:solidFill>
          <a:ln/>
          <a:effectLst>
            <a:outerShdw sx="100000" sy="100000" kx="0" ky="0" algn="bl" rotWithShape="0" blurRad="63500" dist="25400" dir="8100000">
              <a:srgbClr val="000000">
                <a:alpha val="10000"/>
              </a:srgbClr>
            </a:outerShdw>
          </a:effectLst>
        </p:spPr>
      </p:sp>
      <p:sp>
        <p:nvSpPr>
          <p:cNvPr id="6" name="Shape 4"/>
          <p:cNvSpPr/>
          <p:nvPr/>
        </p:nvSpPr>
        <p:spPr>
          <a:xfrm>
            <a:off x="365760" y="1371600"/>
            <a:ext cx="45720" cy="1234440"/>
          </a:xfrm>
          <a:prstGeom prst="rect">
            <a:avLst/>
          </a:prstGeom>
          <a:solidFill>
            <a:srgbClr val="C41E3A"/>
          </a:solidFill>
          <a:ln/>
        </p:spPr>
      </p:sp>
      <p:sp>
        <p:nvSpPr>
          <p:cNvPr id="7" name="Text 5"/>
          <p:cNvSpPr/>
          <p:nvPr/>
        </p:nvSpPr>
        <p:spPr>
          <a:xfrm>
            <a:off x="548640" y="1371600"/>
            <a:ext cx="4091940" cy="1234440"/>
          </a:xfrm>
          <a:prstGeom prst="rect">
            <a:avLst/>
          </a:prstGeom>
          <a:noFill/>
          <a:ln/>
        </p:spPr>
        <p:txBody>
          <a:bodyPr wrap="square" rtlCol="0" anchor="ctr"/>
          <a:lstStyle/>
          <a:p>
            <a:pPr indent="0" marL="0">
              <a:buNone/>
            </a:pPr>
            <a:r>
              <a:rPr lang="en-US" sz="1300" b="1" dirty="0">
                <a:solidFill>
                  <a:srgbClr val="D4AF37"/>
                </a:solidFill>
              </a:rPr>
              <a:t>核心论点</a:t>
            </a:r>
            <a:endParaRPr lang="en-US" sz="1300" dirty="0"/>
          </a:p>
          <a:p>
            <a:pPr indent="0" marL="0">
              <a:buNone/>
            </a:pPr>
            <a:r>
              <a:rPr lang="en-US" sz="1000" dirty="0">
                <a:solidFill>
                  <a:srgbClr val="FFFFFF"/>
                </a:solidFill>
              </a:rPr>
              <a:t>过度使用是青少年棒球最主要的损伤机制；职业水平中，过度使用与损伤增加的因果关系未被证实。不同级别需要本质不同的预防策略，一刀切的方案行不通。</a:t>
            </a:r>
            <a:endParaRPr lang="en-US" sz="1300" dirty="0"/>
          </a:p>
        </p:txBody>
      </p:sp>
      <p:sp>
        <p:nvSpPr>
          <p:cNvPr id="8" name="Shape 6"/>
          <p:cNvSpPr/>
          <p:nvPr/>
        </p:nvSpPr>
        <p:spPr>
          <a:xfrm>
            <a:off x="365760" y="2834640"/>
            <a:ext cx="4411980" cy="86868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9" name="Shape 7"/>
          <p:cNvSpPr/>
          <p:nvPr/>
        </p:nvSpPr>
        <p:spPr>
          <a:xfrm>
            <a:off x="365760" y="2834640"/>
            <a:ext cx="45720" cy="868680"/>
          </a:xfrm>
          <a:prstGeom prst="rect">
            <a:avLst/>
          </a:prstGeom>
          <a:solidFill>
            <a:srgbClr val="C41E3A"/>
          </a:solidFill>
          <a:ln/>
        </p:spPr>
      </p:sp>
      <p:sp>
        <p:nvSpPr>
          <p:cNvPr id="10" name="Text 8"/>
          <p:cNvSpPr/>
          <p:nvPr/>
        </p:nvSpPr>
        <p:spPr>
          <a:xfrm>
            <a:off x="502920" y="2880360"/>
            <a:ext cx="1005840" cy="777240"/>
          </a:xfrm>
          <a:prstGeom prst="rect">
            <a:avLst/>
          </a:prstGeom>
          <a:noFill/>
          <a:ln/>
        </p:spPr>
        <p:txBody>
          <a:bodyPr wrap="square" lIns="0" tIns="0" rIns="0" bIns="0" rtlCol="0" anchor="ctr"/>
          <a:lstStyle/>
          <a:p>
            <a:pPr indent="0" marL="0">
              <a:buNone/>
            </a:pPr>
            <a:r>
              <a:rPr lang="en-US" sz="950" dirty="0">
                <a:solidFill>
                  <a:srgbClr val="C41E3A"/>
                </a:solidFill>
                <a:latin typeface="Arial Black" pitchFamily="34" charset="0"/>
                <a:ea typeface="Arial Black" pitchFamily="34" charset="-122"/>
                <a:cs typeface="Arial Black" pitchFamily="34" charset="-120"/>
              </a:rPr>
              <a:t>损伤趋势</a:t>
            </a:r>
            <a:endParaRPr lang="en-US" sz="950" dirty="0"/>
          </a:p>
        </p:txBody>
      </p:sp>
      <p:sp>
        <p:nvSpPr>
          <p:cNvPr id="11" name="Text 9"/>
          <p:cNvSpPr/>
          <p:nvPr/>
        </p:nvSpPr>
        <p:spPr>
          <a:xfrm>
            <a:off x="1554480" y="2880360"/>
            <a:ext cx="3086100" cy="777240"/>
          </a:xfrm>
          <a:prstGeom prst="rect">
            <a:avLst/>
          </a:prstGeom>
          <a:noFill/>
          <a:ln/>
        </p:spPr>
        <p:txBody>
          <a:bodyPr wrap="square" rtlCol="0" anchor="ctr"/>
          <a:lstStyle/>
          <a:p>
            <a:pPr indent="0" marL="0">
              <a:buNone/>
            </a:pPr>
            <a:r>
              <a:rPr lang="en-US" sz="900" dirty="0">
                <a:solidFill>
                  <a:srgbClr val="1A1A2E"/>
                </a:solidFill>
              </a:rPr>
              <a:t>棒球相关手术持续上升，UCL重建术年轻化趋势明显。上肢UCL损伤为主，下肢腘绳肌损伤为主</a:t>
            </a:r>
            <a:endParaRPr lang="en-US" sz="900" dirty="0"/>
          </a:p>
        </p:txBody>
      </p:sp>
      <p:sp>
        <p:nvSpPr>
          <p:cNvPr id="12" name="Shape 10"/>
          <p:cNvSpPr/>
          <p:nvPr/>
        </p:nvSpPr>
        <p:spPr>
          <a:xfrm>
            <a:off x="365760" y="3886200"/>
            <a:ext cx="4411980" cy="86868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365760" y="3886200"/>
            <a:ext cx="45720" cy="868680"/>
          </a:xfrm>
          <a:prstGeom prst="rect">
            <a:avLst/>
          </a:prstGeom>
          <a:solidFill>
            <a:srgbClr val="C41E3A"/>
          </a:solidFill>
          <a:ln/>
        </p:spPr>
      </p:sp>
      <p:sp>
        <p:nvSpPr>
          <p:cNvPr id="14" name="Text 12"/>
          <p:cNvSpPr/>
          <p:nvPr/>
        </p:nvSpPr>
        <p:spPr>
          <a:xfrm>
            <a:off x="502920" y="3931920"/>
            <a:ext cx="1005840" cy="777240"/>
          </a:xfrm>
          <a:prstGeom prst="rect">
            <a:avLst/>
          </a:prstGeom>
          <a:noFill/>
          <a:ln/>
        </p:spPr>
        <p:txBody>
          <a:bodyPr wrap="square" lIns="0" tIns="0" rIns="0" bIns="0" rtlCol="0" anchor="ctr"/>
          <a:lstStyle/>
          <a:p>
            <a:pPr indent="0" marL="0">
              <a:buNone/>
            </a:pPr>
            <a:r>
              <a:rPr lang="en-US" sz="950" dirty="0">
                <a:solidFill>
                  <a:srgbClr val="C41E3A"/>
                </a:solidFill>
                <a:latin typeface="Arial Black" pitchFamily="34" charset="0"/>
                <a:ea typeface="Arial Black" pitchFamily="34" charset="-122"/>
                <a:cs typeface="Arial Black" pitchFamily="34" charset="-120"/>
              </a:rPr>
              <a:t>惊人数据</a:t>
            </a:r>
            <a:endParaRPr lang="en-US" sz="950" dirty="0"/>
          </a:p>
        </p:txBody>
      </p:sp>
      <p:sp>
        <p:nvSpPr>
          <p:cNvPr id="15" name="Text 13"/>
          <p:cNvSpPr/>
          <p:nvPr/>
        </p:nvSpPr>
        <p:spPr>
          <a:xfrm>
            <a:off x="1554480" y="3931920"/>
            <a:ext cx="3086100" cy="777240"/>
          </a:xfrm>
          <a:prstGeom prst="rect">
            <a:avLst/>
          </a:prstGeom>
          <a:noFill/>
          <a:ln/>
        </p:spPr>
        <p:txBody>
          <a:bodyPr wrap="square" rtlCol="0" anchor="ctr"/>
          <a:lstStyle/>
          <a:p>
            <a:pPr indent="0" marL="0">
              <a:buNone/>
            </a:pPr>
            <a:r>
              <a:rPr lang="en-US" sz="900" dirty="0">
                <a:solidFill>
                  <a:srgbClr val="1A1A2E"/>
                </a:solidFill>
              </a:rPr>
              <a:t>46% 的青少年受访者曾在手臂疼痛时被鼓励继续投球——这是严重的管理漏洞</a:t>
            </a:r>
            <a:endParaRPr lang="en-US" sz="900" dirty="0"/>
          </a:p>
        </p:txBody>
      </p:sp>
      <p:sp>
        <p:nvSpPr>
          <p:cNvPr id="16" name="Shape 14"/>
          <p:cNvSpPr/>
          <p:nvPr/>
        </p:nvSpPr>
        <p:spPr>
          <a:xfrm>
            <a:off x="365760" y="4937760"/>
            <a:ext cx="4411980" cy="86868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7" name="Shape 15"/>
          <p:cNvSpPr/>
          <p:nvPr/>
        </p:nvSpPr>
        <p:spPr>
          <a:xfrm>
            <a:off x="365760" y="4937760"/>
            <a:ext cx="45720" cy="868680"/>
          </a:xfrm>
          <a:prstGeom prst="rect">
            <a:avLst/>
          </a:prstGeom>
          <a:solidFill>
            <a:srgbClr val="C41E3A"/>
          </a:solidFill>
          <a:ln/>
        </p:spPr>
      </p:sp>
      <p:sp>
        <p:nvSpPr>
          <p:cNvPr id="18" name="Text 16"/>
          <p:cNvSpPr/>
          <p:nvPr/>
        </p:nvSpPr>
        <p:spPr>
          <a:xfrm>
            <a:off x="502920" y="4983480"/>
            <a:ext cx="1005840" cy="777240"/>
          </a:xfrm>
          <a:prstGeom prst="rect">
            <a:avLst/>
          </a:prstGeom>
          <a:noFill/>
          <a:ln/>
        </p:spPr>
        <p:txBody>
          <a:bodyPr wrap="square" lIns="0" tIns="0" rIns="0" bIns="0" rtlCol="0" anchor="ctr"/>
          <a:lstStyle/>
          <a:p>
            <a:pPr indent="0" marL="0">
              <a:buNone/>
            </a:pPr>
            <a:r>
              <a:rPr lang="en-US" sz="950" dirty="0">
                <a:solidFill>
                  <a:srgbClr val="C41E3A"/>
                </a:solidFill>
                <a:latin typeface="Arial Black" pitchFamily="34" charset="0"/>
                <a:ea typeface="Arial Black" pitchFamily="34" charset="-122"/>
                <a:cs typeface="Arial Black" pitchFamily="34" charset="-120"/>
              </a:rPr>
              <a:t>预防突破</a:t>
            </a:r>
            <a:endParaRPr lang="en-US" sz="950" dirty="0"/>
          </a:p>
        </p:txBody>
      </p:sp>
      <p:sp>
        <p:nvSpPr>
          <p:cNvPr id="19" name="Text 17"/>
          <p:cNvSpPr/>
          <p:nvPr/>
        </p:nvSpPr>
        <p:spPr>
          <a:xfrm>
            <a:off x="1554480" y="4983480"/>
            <a:ext cx="3086100" cy="777240"/>
          </a:xfrm>
          <a:prstGeom prst="rect">
            <a:avLst/>
          </a:prstGeom>
          <a:noFill/>
          <a:ln/>
        </p:spPr>
        <p:txBody>
          <a:bodyPr wrap="square" rtlCol="0" anchor="ctr"/>
          <a:lstStyle/>
          <a:p>
            <a:pPr indent="0" marL="0">
              <a:buNone/>
            </a:pPr>
            <a:r>
              <a:rPr lang="en-US" sz="900" dirty="0">
                <a:solidFill>
                  <a:srgbClr val="1A1A2E"/>
                </a:solidFill>
              </a:rPr>
              <a:t>横滨棒球-9 方案经随机对照试验验证，可显著降低青少年内侧肘关节损伤</a:t>
            </a:r>
            <a:endParaRPr lang="en-US" sz="900" dirty="0"/>
          </a:p>
        </p:txBody>
      </p:sp>
      <p:sp>
        <p:nvSpPr>
          <p:cNvPr id="20" name="Shape 18"/>
          <p:cNvSpPr/>
          <p:nvPr/>
        </p:nvSpPr>
        <p:spPr>
          <a:xfrm>
            <a:off x="365760" y="5989320"/>
            <a:ext cx="4411980" cy="86868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1" name="Shape 19"/>
          <p:cNvSpPr/>
          <p:nvPr/>
        </p:nvSpPr>
        <p:spPr>
          <a:xfrm>
            <a:off x="365760" y="5989320"/>
            <a:ext cx="45720" cy="868680"/>
          </a:xfrm>
          <a:prstGeom prst="rect">
            <a:avLst/>
          </a:prstGeom>
          <a:solidFill>
            <a:srgbClr val="C41E3A"/>
          </a:solidFill>
          <a:ln/>
        </p:spPr>
      </p:sp>
      <p:sp>
        <p:nvSpPr>
          <p:cNvPr id="22" name="Text 20"/>
          <p:cNvSpPr/>
          <p:nvPr/>
        </p:nvSpPr>
        <p:spPr>
          <a:xfrm>
            <a:off x="502920" y="6035040"/>
            <a:ext cx="1005840" cy="777240"/>
          </a:xfrm>
          <a:prstGeom prst="rect">
            <a:avLst/>
          </a:prstGeom>
          <a:noFill/>
          <a:ln/>
        </p:spPr>
        <p:txBody>
          <a:bodyPr wrap="square" lIns="0" tIns="0" rIns="0" bIns="0" rtlCol="0" anchor="ctr"/>
          <a:lstStyle/>
          <a:p>
            <a:pPr indent="0" marL="0">
              <a:buNone/>
            </a:pPr>
            <a:r>
              <a:rPr lang="en-US" sz="950" dirty="0">
                <a:solidFill>
                  <a:srgbClr val="C41E3A"/>
                </a:solidFill>
                <a:latin typeface="Arial Black" pitchFamily="34" charset="0"/>
                <a:ea typeface="Arial Black" pitchFamily="34" charset="-122"/>
                <a:cs typeface="Arial Black" pitchFamily="34" charset="-120"/>
              </a:rPr>
              <a:t>核心贡献</a:t>
            </a:r>
            <a:endParaRPr lang="en-US" sz="950" dirty="0"/>
          </a:p>
        </p:txBody>
      </p:sp>
      <p:sp>
        <p:nvSpPr>
          <p:cNvPr id="23" name="Text 21"/>
          <p:cNvSpPr/>
          <p:nvPr/>
        </p:nvSpPr>
        <p:spPr>
          <a:xfrm>
            <a:off x="1554480" y="6035040"/>
            <a:ext cx="3086100" cy="777240"/>
          </a:xfrm>
          <a:prstGeom prst="rect">
            <a:avLst/>
          </a:prstGeom>
          <a:noFill/>
          <a:ln/>
        </p:spPr>
        <p:txBody>
          <a:bodyPr wrap="square" rtlCol="0" anchor="ctr"/>
          <a:lstStyle/>
          <a:p>
            <a:pPr indent="0" marL="0">
              <a:buNone/>
            </a:pPr>
            <a:r>
              <a:rPr lang="en-US" sz="900" dirty="0">
                <a:solidFill>
                  <a:srgbClr val="1A1A2E"/>
                </a:solidFill>
              </a:rPr>
              <a:t>综述 60+ 篇文献，揭示从青少年到职业损伤机制的显著差异，提出分级预防的必要性</a:t>
            </a:r>
            <a:endParaRPr lang="en-US" sz="900" dirty="0"/>
          </a:p>
        </p:txBody>
      </p:sp>
      <p:sp>
        <p:nvSpPr>
          <p:cNvPr id="24" name="Shape 22"/>
          <p:cNvSpPr/>
          <p:nvPr/>
        </p:nvSpPr>
        <p:spPr>
          <a:xfrm>
            <a:off x="365760" y="7178040"/>
            <a:ext cx="4411980" cy="822960"/>
          </a:xfrm>
          <a:prstGeom prst="rect">
            <a:avLst/>
          </a:prstGeom>
          <a:solidFill>
            <a:srgbClr val="C41E3A"/>
          </a:solidFill>
          <a:ln/>
          <a:effectLst>
            <a:outerShdw sx="100000" sy="100000" kx="0" ky="0" algn="bl" rotWithShape="0" blurRad="63500" dist="25400" dir="8100000">
              <a:srgbClr val="000000">
                <a:alpha val="10000"/>
              </a:srgbClr>
            </a:outerShdw>
          </a:effectLst>
        </p:spPr>
      </p:sp>
      <p:sp>
        <p:nvSpPr>
          <p:cNvPr id="25" name="Text 23"/>
          <p:cNvSpPr/>
          <p:nvPr/>
        </p:nvSpPr>
        <p:spPr>
          <a:xfrm>
            <a:off x="548640" y="7178040"/>
            <a:ext cx="4046220" cy="822960"/>
          </a:xfrm>
          <a:prstGeom prst="rect">
            <a:avLst/>
          </a:prstGeom>
          <a:noFill/>
          <a:ln/>
        </p:spPr>
        <p:txBody>
          <a:bodyPr wrap="square" rtlCol="0" anchor="ctr"/>
          <a:lstStyle/>
          <a:p>
            <a:pPr algn="ctr" indent="0" marL="0">
              <a:buNone/>
            </a:pPr>
            <a:r>
              <a:rPr lang="en-US" sz="3400" b="1" dirty="0">
                <a:solidFill>
                  <a:srgbClr val="FFFFFF"/>
                </a:solidFill>
              </a:rPr>
              <a:t>46%</a:t>
            </a:r>
            <a:endParaRPr lang="en-US" sz="3400" dirty="0"/>
          </a:p>
          <a:p>
            <a:pPr algn="ctr" indent="0" marL="0">
              <a:buNone/>
            </a:pPr>
            <a:r>
              <a:rPr lang="en-US" sz="1000" dirty="0">
                <a:solidFill>
                  <a:srgbClr val="FFD0D4"/>
                </a:solidFill>
              </a:rPr>
              <a:t>的青少年曾被鼓励在手臂疼痛时继续投球</a:t>
            </a:r>
            <a:endParaRPr lang="en-US" sz="3400" dirty="0"/>
          </a:p>
        </p:txBody>
      </p:sp>
      <p:sp>
        <p:nvSpPr>
          <p:cNvPr id="26" name="Shape 24"/>
          <p:cNvSpPr/>
          <p:nvPr/>
        </p:nvSpPr>
        <p:spPr>
          <a:xfrm>
            <a:off x="0" y="8732520"/>
            <a:ext cx="5143500" cy="411480"/>
          </a:xfrm>
          <a:prstGeom prst="rect">
            <a:avLst/>
          </a:prstGeom>
          <a:solidFill>
            <a:srgbClr val="EAE5D8"/>
          </a:solidFill>
          <a:ln/>
        </p:spPr>
      </p:sp>
      <p:sp>
        <p:nvSpPr>
          <p:cNvPr id="27" name="Shape 25"/>
          <p:cNvSpPr/>
          <p:nvPr/>
        </p:nvSpPr>
        <p:spPr>
          <a:xfrm>
            <a:off x="0" y="8732520"/>
            <a:ext cx="5143500" cy="27432"/>
          </a:xfrm>
          <a:prstGeom prst="rect">
            <a:avLst/>
          </a:prstGeom>
          <a:solidFill>
            <a:srgbClr val="C41E3A"/>
          </a:solidFill>
          <a:ln/>
        </p:spPr>
      </p:sp>
      <p:sp>
        <p:nvSpPr>
          <p:cNvPr id="28" name="Text 26"/>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C41E3A"/>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关键数据</a:t>
            </a:r>
            <a:endParaRPr lang="en-US" sz="2000" dirty="0"/>
          </a:p>
        </p:txBody>
      </p:sp>
      <p:sp>
        <p:nvSpPr>
          <p:cNvPr id="5" name="Shape 3"/>
          <p:cNvSpPr/>
          <p:nvPr/>
        </p:nvSpPr>
        <p:spPr>
          <a:xfrm>
            <a:off x="365760" y="1554480"/>
            <a:ext cx="2091690" cy="19202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65760" y="1554480"/>
            <a:ext cx="2091690" cy="36576"/>
          </a:xfrm>
          <a:prstGeom prst="rect">
            <a:avLst/>
          </a:prstGeom>
          <a:solidFill>
            <a:srgbClr val="C41E3A"/>
          </a:solidFill>
          <a:ln/>
        </p:spPr>
      </p:sp>
      <p:sp>
        <p:nvSpPr>
          <p:cNvPr id="7" name="Text 5"/>
          <p:cNvSpPr/>
          <p:nvPr/>
        </p:nvSpPr>
        <p:spPr>
          <a:xfrm>
            <a:off x="457200" y="1783080"/>
            <a:ext cx="1908810" cy="685800"/>
          </a:xfrm>
          <a:prstGeom prst="rect">
            <a:avLst/>
          </a:prstGeom>
          <a:noFill/>
          <a:ln/>
        </p:spPr>
        <p:txBody>
          <a:bodyPr wrap="square" lIns="0" tIns="0" rIns="0" bIns="0" rtlCol="0" anchor="ctr"/>
          <a:lstStyle/>
          <a:p>
            <a:pPr algn="ctr" indent="0" marL="0">
              <a:buNone/>
            </a:pPr>
            <a:r>
              <a:rPr lang="en-US" sz="3000" dirty="0">
                <a:solidFill>
                  <a:srgbClr val="C41E3A"/>
                </a:solidFill>
                <a:latin typeface="Arial Black" pitchFamily="34" charset="0"/>
                <a:ea typeface="Arial Black" pitchFamily="34" charset="-122"/>
                <a:cs typeface="Arial Black" pitchFamily="34" charset="-120"/>
              </a:rPr>
              <a:t>46%</a:t>
            </a:r>
            <a:endParaRPr lang="en-US" sz="3000" dirty="0"/>
          </a:p>
        </p:txBody>
      </p:sp>
      <p:sp>
        <p:nvSpPr>
          <p:cNvPr id="8" name="Text 6"/>
          <p:cNvSpPr/>
          <p:nvPr/>
        </p:nvSpPr>
        <p:spPr>
          <a:xfrm>
            <a:off x="457200" y="2514600"/>
            <a:ext cx="1908810" cy="548640"/>
          </a:xfrm>
          <a:prstGeom prst="rect">
            <a:avLst/>
          </a:prstGeom>
          <a:noFill/>
          <a:ln/>
        </p:spPr>
        <p:txBody>
          <a:bodyPr wrap="square" rtlCol="0" anchor="t"/>
          <a:lstStyle/>
          <a:p>
            <a:pPr algn="ctr" indent="0" marL="0">
              <a:buNone/>
            </a:pPr>
            <a:r>
              <a:rPr lang="en-US" sz="1000" dirty="0">
                <a:solidFill>
                  <a:srgbClr val="1A1A2E"/>
                </a:solidFill>
              </a:rPr>
              <a:t>青少年曾被鼓励</a:t>
            </a:r>
            <a:endParaRPr lang="en-US" sz="1000" dirty="0"/>
          </a:p>
          <a:p>
            <a:pPr algn="ctr" indent="0" marL="0">
              <a:buNone/>
            </a:pPr>
            <a:r>
              <a:rPr lang="en-US" sz="1000" dirty="0">
                <a:solidFill>
                  <a:srgbClr val="1A1A2E"/>
                </a:solidFill>
              </a:rPr>
              <a:t>带痛投球</a:t>
            </a:r>
            <a:endParaRPr lang="en-US" sz="1000" dirty="0"/>
          </a:p>
        </p:txBody>
      </p:sp>
      <p:sp>
        <p:nvSpPr>
          <p:cNvPr id="9" name="Text 7"/>
          <p:cNvSpPr/>
          <p:nvPr/>
        </p:nvSpPr>
        <p:spPr>
          <a:xfrm>
            <a:off x="457200" y="3017520"/>
            <a:ext cx="1908810" cy="320040"/>
          </a:xfrm>
          <a:prstGeom prst="rect">
            <a:avLst/>
          </a:prstGeom>
          <a:noFill/>
          <a:ln/>
        </p:spPr>
        <p:txBody>
          <a:bodyPr wrap="square" rtlCol="0" anchor="b"/>
          <a:lstStyle/>
          <a:p>
            <a:pPr algn="ctr" indent="0" marL="0">
              <a:buNone/>
            </a:pPr>
            <a:r>
              <a:rPr lang="en-US" sz="700" i="1" dirty="0">
                <a:solidFill>
                  <a:srgbClr val="6B7885"/>
                </a:solidFill>
              </a:rPr>
              <a:t>Makhni et al. 2015</a:t>
            </a:r>
            <a:endParaRPr lang="en-US" sz="700" dirty="0"/>
          </a:p>
        </p:txBody>
      </p:sp>
      <p:sp>
        <p:nvSpPr>
          <p:cNvPr id="10" name="Shape 8"/>
          <p:cNvSpPr/>
          <p:nvPr/>
        </p:nvSpPr>
        <p:spPr>
          <a:xfrm>
            <a:off x="2686050" y="1554480"/>
            <a:ext cx="2091690" cy="19202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1" name="Shape 9"/>
          <p:cNvSpPr/>
          <p:nvPr/>
        </p:nvSpPr>
        <p:spPr>
          <a:xfrm>
            <a:off x="2686050" y="1554480"/>
            <a:ext cx="2091690" cy="36576"/>
          </a:xfrm>
          <a:prstGeom prst="rect">
            <a:avLst/>
          </a:prstGeom>
          <a:solidFill>
            <a:srgbClr val="1A3A5C"/>
          </a:solidFill>
          <a:ln/>
        </p:spPr>
      </p:sp>
      <p:sp>
        <p:nvSpPr>
          <p:cNvPr id="12" name="Text 10"/>
          <p:cNvSpPr/>
          <p:nvPr/>
        </p:nvSpPr>
        <p:spPr>
          <a:xfrm>
            <a:off x="2777490" y="1783080"/>
            <a:ext cx="1908810" cy="685800"/>
          </a:xfrm>
          <a:prstGeom prst="rect">
            <a:avLst/>
          </a:prstGeom>
          <a:noFill/>
          <a:ln/>
        </p:spPr>
        <p:txBody>
          <a:bodyPr wrap="square" lIns="0" tIns="0" rIns="0" bIns="0" rtlCol="0" anchor="ctr"/>
          <a:lstStyle/>
          <a:p>
            <a:pPr algn="ctr" indent="0" marL="0">
              <a:buNone/>
            </a:pPr>
            <a:r>
              <a:rPr lang="en-US" sz="3000" dirty="0">
                <a:solidFill>
                  <a:srgbClr val="1A3A5C"/>
                </a:solidFill>
                <a:latin typeface="Arial Black" pitchFamily="34" charset="0"/>
                <a:ea typeface="Arial Black" pitchFamily="34" charset="-122"/>
                <a:cs typeface="Arial Black" pitchFamily="34" charset="-120"/>
              </a:rPr>
              <a:t>18年</a:t>
            </a:r>
            <a:endParaRPr lang="en-US" sz="3000" dirty="0"/>
          </a:p>
        </p:txBody>
      </p:sp>
      <p:sp>
        <p:nvSpPr>
          <p:cNvPr id="13" name="Text 11"/>
          <p:cNvSpPr/>
          <p:nvPr/>
        </p:nvSpPr>
        <p:spPr>
          <a:xfrm>
            <a:off x="2777490" y="2514600"/>
            <a:ext cx="1908810" cy="548640"/>
          </a:xfrm>
          <a:prstGeom prst="rect">
            <a:avLst/>
          </a:prstGeom>
          <a:noFill/>
          <a:ln/>
        </p:spPr>
        <p:txBody>
          <a:bodyPr wrap="square" rtlCol="0" anchor="t"/>
          <a:lstStyle/>
          <a:p>
            <a:pPr algn="ctr" indent="0" marL="0">
              <a:buNone/>
            </a:pPr>
            <a:r>
              <a:rPr lang="en-US" sz="1000" dirty="0">
                <a:solidFill>
                  <a:srgbClr val="1A1A2E"/>
                </a:solidFill>
              </a:rPr>
              <a:t>MLB损伤趋势</a:t>
            </a:r>
            <a:endParaRPr lang="en-US" sz="1000" dirty="0"/>
          </a:p>
          <a:p>
            <a:pPr algn="ctr" indent="0" marL="0">
              <a:buNone/>
            </a:pPr>
            <a:r>
              <a:rPr lang="en-US" sz="1000" dirty="0">
                <a:solidFill>
                  <a:srgbClr val="1A1A2E"/>
                </a:solidFill>
              </a:rPr>
              <a:t>追踪(1998–2015)</a:t>
            </a:r>
            <a:endParaRPr lang="en-US" sz="1000" dirty="0"/>
          </a:p>
        </p:txBody>
      </p:sp>
      <p:sp>
        <p:nvSpPr>
          <p:cNvPr id="14" name="Text 12"/>
          <p:cNvSpPr/>
          <p:nvPr/>
        </p:nvSpPr>
        <p:spPr>
          <a:xfrm>
            <a:off x="2777490" y="3017520"/>
            <a:ext cx="1908810" cy="320040"/>
          </a:xfrm>
          <a:prstGeom prst="rect">
            <a:avLst/>
          </a:prstGeom>
          <a:noFill/>
          <a:ln/>
        </p:spPr>
        <p:txBody>
          <a:bodyPr wrap="square" rtlCol="0" anchor="b"/>
          <a:lstStyle/>
          <a:p>
            <a:pPr algn="ctr" indent="0" marL="0">
              <a:buNone/>
            </a:pPr>
            <a:r>
              <a:rPr lang="en-US" sz="700" i="1" dirty="0">
                <a:solidFill>
                  <a:srgbClr val="6B7885"/>
                </a:solidFill>
              </a:rPr>
              <a:t>Conte et al. 2016</a:t>
            </a:r>
            <a:endParaRPr lang="en-US" sz="700" dirty="0"/>
          </a:p>
        </p:txBody>
      </p:sp>
      <p:sp>
        <p:nvSpPr>
          <p:cNvPr id="15" name="Shape 13"/>
          <p:cNvSpPr/>
          <p:nvPr/>
        </p:nvSpPr>
        <p:spPr>
          <a:xfrm>
            <a:off x="365760" y="3703320"/>
            <a:ext cx="2091690" cy="19202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6" name="Shape 14"/>
          <p:cNvSpPr/>
          <p:nvPr/>
        </p:nvSpPr>
        <p:spPr>
          <a:xfrm>
            <a:off x="365760" y="3703320"/>
            <a:ext cx="2091690" cy="36576"/>
          </a:xfrm>
          <a:prstGeom prst="rect">
            <a:avLst/>
          </a:prstGeom>
          <a:solidFill>
            <a:srgbClr val="D35400"/>
          </a:solidFill>
          <a:ln/>
        </p:spPr>
      </p:sp>
      <p:sp>
        <p:nvSpPr>
          <p:cNvPr id="17" name="Text 15"/>
          <p:cNvSpPr/>
          <p:nvPr/>
        </p:nvSpPr>
        <p:spPr>
          <a:xfrm>
            <a:off x="457200" y="3931920"/>
            <a:ext cx="1908810" cy="685800"/>
          </a:xfrm>
          <a:prstGeom prst="rect">
            <a:avLst/>
          </a:prstGeom>
          <a:noFill/>
          <a:ln/>
        </p:spPr>
        <p:txBody>
          <a:bodyPr wrap="square" lIns="0" tIns="0" rIns="0" bIns="0" rtlCol="0" anchor="ctr"/>
          <a:lstStyle/>
          <a:p>
            <a:pPr algn="ctr" indent="0" marL="0">
              <a:buNone/>
            </a:pPr>
            <a:r>
              <a:rPr lang="en-US" sz="3000" dirty="0">
                <a:solidFill>
                  <a:srgbClr val="D35400"/>
                </a:solidFill>
                <a:latin typeface="Arial Black" pitchFamily="34" charset="0"/>
                <a:ea typeface="Arial Black" pitchFamily="34" charset="-122"/>
                <a:cs typeface="Arial Black" pitchFamily="34" charset="-120"/>
              </a:rPr>
              <a:t>82,000+</a:t>
            </a:r>
            <a:endParaRPr lang="en-US" sz="3000" dirty="0"/>
          </a:p>
        </p:txBody>
      </p:sp>
      <p:sp>
        <p:nvSpPr>
          <p:cNvPr id="18" name="Text 16"/>
          <p:cNvSpPr/>
          <p:nvPr/>
        </p:nvSpPr>
        <p:spPr>
          <a:xfrm>
            <a:off x="457200" y="4663440"/>
            <a:ext cx="1908810" cy="548640"/>
          </a:xfrm>
          <a:prstGeom prst="rect">
            <a:avLst/>
          </a:prstGeom>
          <a:noFill/>
          <a:ln/>
        </p:spPr>
        <p:txBody>
          <a:bodyPr wrap="square" rtlCol="0" anchor="t"/>
          <a:lstStyle/>
          <a:p>
            <a:pPr algn="ctr" indent="0" marL="0">
              <a:buNone/>
            </a:pPr>
            <a:r>
              <a:rPr lang="en-US" sz="1000" dirty="0">
                <a:solidFill>
                  <a:srgbClr val="1A1A2E"/>
                </a:solidFill>
              </a:rPr>
              <a:t>职业投手投球</a:t>
            </a:r>
            <a:endParaRPr lang="en-US" sz="1000" dirty="0"/>
          </a:p>
          <a:p>
            <a:pPr algn="ctr" indent="0" marL="0">
              <a:buNone/>
            </a:pPr>
            <a:r>
              <a:rPr lang="en-US" sz="1000" dirty="0">
                <a:solidFill>
                  <a:srgbClr val="1A1A2E"/>
                </a:solidFill>
              </a:rPr>
              <a:t>生物力学分析</a:t>
            </a:r>
            <a:endParaRPr lang="en-US" sz="1000" dirty="0"/>
          </a:p>
        </p:txBody>
      </p:sp>
      <p:sp>
        <p:nvSpPr>
          <p:cNvPr id="19" name="Text 17"/>
          <p:cNvSpPr/>
          <p:nvPr/>
        </p:nvSpPr>
        <p:spPr>
          <a:xfrm>
            <a:off x="457200" y="5166360"/>
            <a:ext cx="1908810" cy="320040"/>
          </a:xfrm>
          <a:prstGeom prst="rect">
            <a:avLst/>
          </a:prstGeom>
          <a:noFill/>
          <a:ln/>
        </p:spPr>
        <p:txBody>
          <a:bodyPr wrap="square" rtlCol="0" anchor="b"/>
          <a:lstStyle/>
          <a:p>
            <a:pPr algn="ctr" indent="0" marL="0">
              <a:buNone/>
            </a:pPr>
            <a:r>
              <a:rPr lang="en-US" sz="700" i="1" dirty="0">
                <a:solidFill>
                  <a:srgbClr val="6B7885"/>
                </a:solidFill>
              </a:rPr>
              <a:t>Camp et al. 2017</a:t>
            </a:r>
            <a:endParaRPr lang="en-US" sz="700" dirty="0"/>
          </a:p>
        </p:txBody>
      </p:sp>
      <p:sp>
        <p:nvSpPr>
          <p:cNvPr id="20" name="Shape 18"/>
          <p:cNvSpPr/>
          <p:nvPr/>
        </p:nvSpPr>
        <p:spPr>
          <a:xfrm>
            <a:off x="2686050" y="3703320"/>
            <a:ext cx="2091690" cy="19202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1" name="Shape 19"/>
          <p:cNvSpPr/>
          <p:nvPr/>
        </p:nvSpPr>
        <p:spPr>
          <a:xfrm>
            <a:off x="2686050" y="3703320"/>
            <a:ext cx="2091690" cy="36576"/>
          </a:xfrm>
          <a:prstGeom prst="rect">
            <a:avLst/>
          </a:prstGeom>
          <a:solidFill>
            <a:srgbClr val="2E86C1"/>
          </a:solidFill>
          <a:ln/>
        </p:spPr>
      </p:sp>
      <p:sp>
        <p:nvSpPr>
          <p:cNvPr id="22" name="Text 20"/>
          <p:cNvSpPr/>
          <p:nvPr/>
        </p:nvSpPr>
        <p:spPr>
          <a:xfrm>
            <a:off x="2777490" y="3931920"/>
            <a:ext cx="1908810" cy="685800"/>
          </a:xfrm>
          <a:prstGeom prst="rect">
            <a:avLst/>
          </a:prstGeom>
          <a:noFill/>
          <a:ln/>
        </p:spPr>
        <p:txBody>
          <a:bodyPr wrap="square" lIns="0" tIns="0" rIns="0" bIns="0" rtlCol="0" anchor="ctr"/>
          <a:lstStyle/>
          <a:p>
            <a:pPr algn="ctr" indent="0" marL="0">
              <a:buNone/>
            </a:pPr>
            <a:r>
              <a:rPr lang="en-US" sz="3000" dirty="0">
                <a:solidFill>
                  <a:srgbClr val="2E86C1"/>
                </a:solidFill>
                <a:latin typeface="Arial Black" pitchFamily="34" charset="0"/>
                <a:ea typeface="Arial Black" pitchFamily="34" charset="-122"/>
                <a:cs typeface="Arial Black" pitchFamily="34" charset="-120"/>
              </a:rPr>
              <a:t>10年</a:t>
            </a:r>
            <a:endParaRPr lang="en-US" sz="3000" dirty="0"/>
          </a:p>
        </p:txBody>
      </p:sp>
      <p:sp>
        <p:nvSpPr>
          <p:cNvPr id="23" name="Text 21"/>
          <p:cNvSpPr/>
          <p:nvPr/>
        </p:nvSpPr>
        <p:spPr>
          <a:xfrm>
            <a:off x="2777490" y="4663440"/>
            <a:ext cx="1908810" cy="548640"/>
          </a:xfrm>
          <a:prstGeom prst="rect">
            <a:avLst/>
          </a:prstGeom>
          <a:noFill/>
          <a:ln/>
        </p:spPr>
        <p:txBody>
          <a:bodyPr wrap="square" rtlCol="0" anchor="t"/>
          <a:lstStyle/>
          <a:p>
            <a:pPr algn="ctr" indent="0" marL="0">
              <a:buNone/>
            </a:pPr>
            <a:r>
              <a:rPr lang="en-US" sz="1000" dirty="0">
                <a:solidFill>
                  <a:srgbClr val="1A1A2E"/>
                </a:solidFill>
              </a:rPr>
              <a:t>青少年严重损伤</a:t>
            </a:r>
            <a:endParaRPr lang="en-US" sz="1000" dirty="0"/>
          </a:p>
          <a:p>
            <a:pPr algn="ctr" indent="0" marL="0">
              <a:buNone/>
            </a:pPr>
            <a:r>
              <a:rPr lang="en-US" sz="1000" dirty="0">
                <a:solidFill>
                  <a:srgbClr val="1A1A2E"/>
                </a:solidFill>
              </a:rPr>
              <a:t>前瞻性研究</a:t>
            </a:r>
            <a:endParaRPr lang="en-US" sz="1000" dirty="0"/>
          </a:p>
        </p:txBody>
      </p:sp>
      <p:sp>
        <p:nvSpPr>
          <p:cNvPr id="24" name="Text 22"/>
          <p:cNvSpPr/>
          <p:nvPr/>
        </p:nvSpPr>
        <p:spPr>
          <a:xfrm>
            <a:off x="2777490" y="5166360"/>
            <a:ext cx="1908810" cy="320040"/>
          </a:xfrm>
          <a:prstGeom prst="rect">
            <a:avLst/>
          </a:prstGeom>
          <a:noFill/>
          <a:ln/>
        </p:spPr>
        <p:txBody>
          <a:bodyPr wrap="square" rtlCol="0" anchor="b"/>
          <a:lstStyle/>
          <a:p>
            <a:pPr algn="ctr" indent="0" marL="0">
              <a:buNone/>
            </a:pPr>
            <a:r>
              <a:rPr lang="en-US" sz="700" i="1" dirty="0">
                <a:solidFill>
                  <a:srgbClr val="6B7885"/>
                </a:solidFill>
              </a:rPr>
              <a:t>Fleisig et al. 2011</a:t>
            </a:r>
            <a:endParaRPr lang="en-US" sz="700" dirty="0"/>
          </a:p>
        </p:txBody>
      </p:sp>
      <p:sp>
        <p:nvSpPr>
          <p:cNvPr id="25" name="Shape 23"/>
          <p:cNvSpPr/>
          <p:nvPr/>
        </p:nvSpPr>
        <p:spPr>
          <a:xfrm>
            <a:off x="365760" y="6217920"/>
            <a:ext cx="4411980" cy="594360"/>
          </a:xfrm>
          <a:prstGeom prst="rect">
            <a:avLst/>
          </a:prstGeom>
          <a:solidFill>
            <a:srgbClr val="1A3A5C"/>
          </a:solidFill>
          <a:ln/>
          <a:effectLst>
            <a:outerShdw sx="100000" sy="100000" kx="0" ky="0" algn="bl" rotWithShape="0" blurRad="63500" dist="25400" dir="8100000">
              <a:srgbClr val="000000">
                <a:alpha val="10000"/>
              </a:srgbClr>
            </a:outerShdw>
          </a:effectLst>
        </p:spPr>
      </p:sp>
      <p:sp>
        <p:nvSpPr>
          <p:cNvPr id="26" name="Text 24"/>
          <p:cNvSpPr/>
          <p:nvPr/>
        </p:nvSpPr>
        <p:spPr>
          <a:xfrm>
            <a:off x="502920" y="6217920"/>
            <a:ext cx="4137660" cy="594360"/>
          </a:xfrm>
          <a:prstGeom prst="rect">
            <a:avLst/>
          </a:prstGeom>
          <a:noFill/>
          <a:ln/>
        </p:spPr>
        <p:txBody>
          <a:bodyPr wrap="square" rtlCol="0" anchor="ctr"/>
          <a:lstStyle/>
          <a:p>
            <a:pPr indent="0" marL="0">
              <a:buNone/>
            </a:pPr>
            <a:r>
              <a:rPr lang="en-US" sz="900" b="1" dirty="0">
                <a:solidFill>
                  <a:srgbClr val="D4AF37"/>
                </a:solidFill>
              </a:rPr>
              <a:t>数据来源：</a:t>
            </a:r>
            <a:pPr indent="0" marL="0">
              <a:buNone/>
            </a:pPr>
            <a:r>
              <a:rPr lang="en-US" sz="850" dirty="0">
                <a:solidFill>
                  <a:srgbClr val="FFFFFF"/>
                </a:solidFill>
              </a:rPr>
              <a:t>MLB损伤监测系统、NCAA系统、ASMI前瞻性队列、日本横滨随机对照试验等多中心大样本数据</a:t>
            </a:r>
            <a:endParaRPr lang="en-US" sz="900" dirty="0"/>
          </a:p>
        </p:txBody>
      </p:sp>
      <p:sp>
        <p:nvSpPr>
          <p:cNvPr id="27" name="Shape 25"/>
          <p:cNvSpPr/>
          <p:nvPr/>
        </p:nvSpPr>
        <p:spPr>
          <a:xfrm>
            <a:off x="365760" y="6995160"/>
            <a:ext cx="4411980" cy="18288"/>
          </a:xfrm>
          <a:prstGeom prst="rect">
            <a:avLst/>
          </a:prstGeom>
          <a:solidFill>
            <a:srgbClr val="D4AF37"/>
          </a:solidFill>
          <a:ln/>
        </p:spPr>
      </p:sp>
      <p:sp>
        <p:nvSpPr>
          <p:cNvPr id="28" name="Text 26"/>
          <p:cNvSpPr/>
          <p:nvPr/>
        </p:nvSpPr>
        <p:spPr>
          <a:xfrm>
            <a:off x="365760" y="7132320"/>
            <a:ext cx="4411980" cy="365760"/>
          </a:xfrm>
          <a:prstGeom prst="rect">
            <a:avLst/>
          </a:prstGeom>
          <a:noFill/>
          <a:ln/>
        </p:spPr>
        <p:txBody>
          <a:bodyPr wrap="square" rtlCol="0" anchor="ctr"/>
          <a:lstStyle/>
          <a:p>
            <a:pPr algn="ctr" indent="0" marL="0">
              <a:buNone/>
            </a:pPr>
            <a:r>
              <a:rPr lang="en-US" sz="850" dirty="0">
                <a:solidFill>
                  <a:srgbClr val="6B7885"/>
                </a:solidFill>
              </a:rPr>
              <a:t>这些数据为分级预防策略提供了坚实的循证基础</a:t>
            </a:r>
            <a:endParaRPr lang="en-US" sz="850" dirty="0"/>
          </a:p>
        </p:txBody>
      </p:sp>
      <p:sp>
        <p:nvSpPr>
          <p:cNvPr id="29" name="Shape 27"/>
          <p:cNvSpPr/>
          <p:nvPr/>
        </p:nvSpPr>
        <p:spPr>
          <a:xfrm>
            <a:off x="0" y="8732520"/>
            <a:ext cx="5143500" cy="411480"/>
          </a:xfrm>
          <a:prstGeom prst="rect">
            <a:avLst/>
          </a:prstGeom>
          <a:solidFill>
            <a:srgbClr val="EAE5D8"/>
          </a:solidFill>
          <a:ln/>
        </p:spPr>
      </p:sp>
      <p:sp>
        <p:nvSpPr>
          <p:cNvPr id="30" name="Shape 28"/>
          <p:cNvSpPr/>
          <p:nvPr/>
        </p:nvSpPr>
        <p:spPr>
          <a:xfrm>
            <a:off x="0" y="8732520"/>
            <a:ext cx="5143500" cy="27432"/>
          </a:xfrm>
          <a:prstGeom prst="rect">
            <a:avLst/>
          </a:prstGeom>
          <a:solidFill>
            <a:srgbClr val="C41E3A"/>
          </a:solidFill>
          <a:ln/>
        </p:spPr>
      </p:sp>
      <p:sp>
        <p:nvSpPr>
          <p:cNvPr id="31" name="Text 29"/>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2E86C1"/>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青少年棒球 损伤与预防</a:t>
            </a:r>
            <a:endParaRPr lang="en-US" sz="2000" dirty="0"/>
          </a:p>
        </p:txBody>
      </p:sp>
      <p:sp>
        <p:nvSpPr>
          <p:cNvPr id="5" name="Shape 3"/>
          <p:cNvSpPr/>
          <p:nvPr/>
        </p:nvSpPr>
        <p:spPr>
          <a:xfrm>
            <a:off x="365760" y="1371600"/>
            <a:ext cx="4411980" cy="5486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65760" y="1371600"/>
            <a:ext cx="45720" cy="548640"/>
          </a:xfrm>
          <a:prstGeom prst="rect">
            <a:avLst/>
          </a:prstGeom>
          <a:solidFill>
            <a:srgbClr val="2E86C1"/>
          </a:solidFill>
          <a:ln/>
        </p:spPr>
      </p:sp>
      <p:sp>
        <p:nvSpPr>
          <p:cNvPr id="7" name="Text 5"/>
          <p:cNvSpPr/>
          <p:nvPr/>
        </p:nvSpPr>
        <p:spPr>
          <a:xfrm>
            <a:off x="502920" y="1371600"/>
            <a:ext cx="1005840" cy="548640"/>
          </a:xfrm>
          <a:prstGeom prst="rect">
            <a:avLst/>
          </a:prstGeom>
          <a:noFill/>
          <a:ln/>
        </p:spPr>
        <p:txBody>
          <a:bodyPr wrap="square" lIns="0" tIns="0" rIns="0" bIns="0" rtlCol="0" anchor="ctr"/>
          <a:lstStyle/>
          <a:p>
            <a:pPr indent="0" marL="0">
              <a:buNone/>
            </a:pPr>
            <a:r>
              <a:rPr lang="en-US" sz="950" dirty="0">
                <a:solidFill>
                  <a:srgbClr val="2E86C1"/>
                </a:solidFill>
                <a:latin typeface="Arial Black" pitchFamily="34" charset="0"/>
                <a:ea typeface="Arial Black" pitchFamily="34" charset="-122"/>
                <a:cs typeface="Arial Black" pitchFamily="34" charset="-120"/>
              </a:rPr>
              <a:t>主要机制</a:t>
            </a:r>
            <a:endParaRPr lang="en-US" sz="950" dirty="0"/>
          </a:p>
        </p:txBody>
      </p:sp>
      <p:sp>
        <p:nvSpPr>
          <p:cNvPr id="8" name="Text 6"/>
          <p:cNvSpPr/>
          <p:nvPr/>
        </p:nvSpPr>
        <p:spPr>
          <a:xfrm>
            <a:off x="1554480" y="1389888"/>
            <a:ext cx="3086100" cy="512064"/>
          </a:xfrm>
          <a:prstGeom prst="rect">
            <a:avLst/>
          </a:prstGeom>
          <a:noFill/>
          <a:ln/>
        </p:spPr>
        <p:txBody>
          <a:bodyPr wrap="square" rtlCol="0" anchor="ctr"/>
          <a:lstStyle/>
          <a:p>
            <a:pPr indent="0" marL="0">
              <a:buNone/>
            </a:pPr>
            <a:r>
              <a:rPr lang="en-US" sz="900" dirty="0">
                <a:solidFill>
                  <a:srgbClr val="1A1A2E"/>
                </a:solidFill>
              </a:rPr>
              <a:t>过度使用已被证实为最主要损伤机制，骨骼未成熟时对重复负荷适应性差</a:t>
            </a:r>
            <a:endParaRPr lang="en-US" sz="900" dirty="0"/>
          </a:p>
        </p:txBody>
      </p:sp>
      <p:sp>
        <p:nvSpPr>
          <p:cNvPr id="9" name="Shape 7"/>
          <p:cNvSpPr/>
          <p:nvPr/>
        </p:nvSpPr>
        <p:spPr>
          <a:xfrm>
            <a:off x="365760" y="2057400"/>
            <a:ext cx="4411980" cy="5486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0" name="Shape 8"/>
          <p:cNvSpPr/>
          <p:nvPr/>
        </p:nvSpPr>
        <p:spPr>
          <a:xfrm>
            <a:off x="365760" y="2057400"/>
            <a:ext cx="45720" cy="548640"/>
          </a:xfrm>
          <a:prstGeom prst="rect">
            <a:avLst/>
          </a:prstGeom>
          <a:solidFill>
            <a:srgbClr val="2E86C1"/>
          </a:solidFill>
          <a:ln/>
        </p:spPr>
      </p:sp>
      <p:sp>
        <p:nvSpPr>
          <p:cNvPr id="11" name="Text 9"/>
          <p:cNvSpPr/>
          <p:nvPr/>
        </p:nvSpPr>
        <p:spPr>
          <a:xfrm>
            <a:off x="502920" y="2057400"/>
            <a:ext cx="1005840" cy="548640"/>
          </a:xfrm>
          <a:prstGeom prst="rect">
            <a:avLst/>
          </a:prstGeom>
          <a:noFill/>
          <a:ln/>
        </p:spPr>
        <p:txBody>
          <a:bodyPr wrap="square" lIns="0" tIns="0" rIns="0" bIns="0" rtlCol="0" anchor="ctr"/>
          <a:lstStyle/>
          <a:p>
            <a:pPr indent="0" marL="0">
              <a:buNone/>
            </a:pPr>
            <a:r>
              <a:rPr lang="en-US" sz="950" dirty="0">
                <a:solidFill>
                  <a:srgbClr val="2E86C1"/>
                </a:solidFill>
                <a:latin typeface="Arial Black" pitchFamily="34" charset="0"/>
                <a:ea typeface="Arial Black" pitchFamily="34" charset="-122"/>
                <a:cs typeface="Arial Black" pitchFamily="34" charset="-120"/>
              </a:rPr>
              <a:t>带痛投球</a:t>
            </a:r>
            <a:endParaRPr lang="en-US" sz="950" dirty="0"/>
          </a:p>
        </p:txBody>
      </p:sp>
      <p:sp>
        <p:nvSpPr>
          <p:cNvPr id="12" name="Text 10"/>
          <p:cNvSpPr/>
          <p:nvPr/>
        </p:nvSpPr>
        <p:spPr>
          <a:xfrm>
            <a:off x="1554480" y="2075688"/>
            <a:ext cx="3086100" cy="512064"/>
          </a:xfrm>
          <a:prstGeom prst="rect">
            <a:avLst/>
          </a:prstGeom>
          <a:noFill/>
          <a:ln/>
        </p:spPr>
        <p:txBody>
          <a:bodyPr wrap="square" rtlCol="0" anchor="ctr"/>
          <a:lstStyle/>
          <a:p>
            <a:pPr indent="0" marL="0">
              <a:buNone/>
            </a:pPr>
            <a:r>
              <a:rPr lang="en-US" sz="900" dirty="0">
                <a:solidFill>
                  <a:srgbClr val="1A1A2E"/>
                </a:solidFill>
              </a:rPr>
              <a:t>46%青少年曾被鼓励在手臂疼痛时继续投球——这是严重安全隐患</a:t>
            </a:r>
            <a:endParaRPr lang="en-US" sz="900" dirty="0"/>
          </a:p>
        </p:txBody>
      </p:sp>
      <p:sp>
        <p:nvSpPr>
          <p:cNvPr id="13" name="Shape 11"/>
          <p:cNvSpPr/>
          <p:nvPr/>
        </p:nvSpPr>
        <p:spPr>
          <a:xfrm>
            <a:off x="365760" y="2743200"/>
            <a:ext cx="4411980" cy="5486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4" name="Shape 12"/>
          <p:cNvSpPr/>
          <p:nvPr/>
        </p:nvSpPr>
        <p:spPr>
          <a:xfrm>
            <a:off x="365760" y="2743200"/>
            <a:ext cx="45720" cy="548640"/>
          </a:xfrm>
          <a:prstGeom prst="rect">
            <a:avLst/>
          </a:prstGeom>
          <a:solidFill>
            <a:srgbClr val="2E86C1"/>
          </a:solidFill>
          <a:ln/>
        </p:spPr>
      </p:sp>
      <p:sp>
        <p:nvSpPr>
          <p:cNvPr id="15" name="Text 13"/>
          <p:cNvSpPr/>
          <p:nvPr/>
        </p:nvSpPr>
        <p:spPr>
          <a:xfrm>
            <a:off x="502920" y="2743200"/>
            <a:ext cx="1005840" cy="548640"/>
          </a:xfrm>
          <a:prstGeom prst="rect">
            <a:avLst/>
          </a:prstGeom>
          <a:noFill/>
          <a:ln/>
        </p:spPr>
        <p:txBody>
          <a:bodyPr wrap="square" lIns="0" tIns="0" rIns="0" bIns="0" rtlCol="0" anchor="ctr"/>
          <a:lstStyle/>
          <a:p>
            <a:pPr indent="0" marL="0">
              <a:buNone/>
            </a:pPr>
            <a:r>
              <a:rPr lang="en-US" sz="950" dirty="0">
                <a:solidFill>
                  <a:srgbClr val="2E86C1"/>
                </a:solidFill>
                <a:latin typeface="Arial Black" pitchFamily="34" charset="0"/>
                <a:ea typeface="Arial Black" pitchFamily="34" charset="-122"/>
                <a:cs typeface="Arial Black" pitchFamily="34" charset="-120"/>
              </a:rPr>
              <a:t>变化球争议</a:t>
            </a:r>
            <a:endParaRPr lang="en-US" sz="950" dirty="0"/>
          </a:p>
        </p:txBody>
      </p:sp>
      <p:sp>
        <p:nvSpPr>
          <p:cNvPr id="16" name="Text 14"/>
          <p:cNvSpPr/>
          <p:nvPr/>
        </p:nvSpPr>
        <p:spPr>
          <a:xfrm>
            <a:off x="1554480" y="2761488"/>
            <a:ext cx="3086100" cy="512064"/>
          </a:xfrm>
          <a:prstGeom prst="rect">
            <a:avLst/>
          </a:prstGeom>
          <a:noFill/>
          <a:ln/>
        </p:spPr>
        <p:txBody>
          <a:bodyPr wrap="square" rtlCol="0" anchor="ctr"/>
          <a:lstStyle/>
          <a:p>
            <a:pPr indent="0" marL="0">
              <a:buNone/>
            </a:pPr>
            <a:r>
              <a:rPr lang="en-US" sz="900" dirty="0">
                <a:solidFill>
                  <a:srgbClr val="1A1A2E"/>
                </a:solidFill>
              </a:rPr>
              <a:t>生物力学研究发现变化球并不更危险，关键在于总体负荷管理</a:t>
            </a:r>
            <a:endParaRPr lang="en-US" sz="900" dirty="0"/>
          </a:p>
        </p:txBody>
      </p:sp>
      <p:sp>
        <p:nvSpPr>
          <p:cNvPr id="17" name="Shape 15"/>
          <p:cNvSpPr/>
          <p:nvPr/>
        </p:nvSpPr>
        <p:spPr>
          <a:xfrm>
            <a:off x="365760" y="3429000"/>
            <a:ext cx="4411980" cy="54864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8" name="Shape 16"/>
          <p:cNvSpPr/>
          <p:nvPr/>
        </p:nvSpPr>
        <p:spPr>
          <a:xfrm>
            <a:off x="365760" y="3429000"/>
            <a:ext cx="45720" cy="548640"/>
          </a:xfrm>
          <a:prstGeom prst="rect">
            <a:avLst/>
          </a:prstGeom>
          <a:solidFill>
            <a:srgbClr val="2E86C1"/>
          </a:solidFill>
          <a:ln/>
        </p:spPr>
      </p:sp>
      <p:sp>
        <p:nvSpPr>
          <p:cNvPr id="19" name="Text 17"/>
          <p:cNvSpPr/>
          <p:nvPr/>
        </p:nvSpPr>
        <p:spPr>
          <a:xfrm>
            <a:off x="502920" y="3429000"/>
            <a:ext cx="1005840" cy="548640"/>
          </a:xfrm>
          <a:prstGeom prst="rect">
            <a:avLst/>
          </a:prstGeom>
          <a:noFill/>
          <a:ln/>
        </p:spPr>
        <p:txBody>
          <a:bodyPr wrap="square" lIns="0" tIns="0" rIns="0" bIns="0" rtlCol="0" anchor="ctr"/>
          <a:lstStyle/>
          <a:p>
            <a:pPr indent="0" marL="0">
              <a:buNone/>
            </a:pPr>
            <a:r>
              <a:rPr lang="en-US" sz="950" dirty="0">
                <a:solidFill>
                  <a:srgbClr val="2E86C1"/>
                </a:solidFill>
                <a:latin typeface="Arial Black" pitchFamily="34" charset="0"/>
                <a:ea typeface="Arial Black" pitchFamily="34" charset="-122"/>
                <a:cs typeface="Arial Black" pitchFamily="34" charset="-120"/>
              </a:rPr>
              <a:t>知识普及</a:t>
            </a:r>
            <a:endParaRPr lang="en-US" sz="950" dirty="0"/>
          </a:p>
        </p:txBody>
      </p:sp>
      <p:sp>
        <p:nvSpPr>
          <p:cNvPr id="20" name="Text 18"/>
          <p:cNvSpPr/>
          <p:nvPr/>
        </p:nvSpPr>
        <p:spPr>
          <a:xfrm>
            <a:off x="1554480" y="3447288"/>
            <a:ext cx="3086100" cy="512064"/>
          </a:xfrm>
          <a:prstGeom prst="rect">
            <a:avLst/>
          </a:prstGeom>
          <a:noFill/>
          <a:ln/>
        </p:spPr>
        <p:txBody>
          <a:bodyPr wrap="square" rtlCol="0" anchor="ctr"/>
          <a:lstStyle/>
          <a:p>
            <a:pPr indent="0" marL="0">
              <a:buNone/>
            </a:pPr>
            <a:r>
              <a:rPr lang="en-US" sz="900" dirty="0">
                <a:solidFill>
                  <a:srgbClr val="1A1A2E"/>
                </a:solidFill>
              </a:rPr>
              <a:t>青少年对损伤预防知识了解不足，风险认知欠缺（Bohne et al. 2015）</a:t>
            </a:r>
            <a:endParaRPr lang="en-US" sz="900" dirty="0"/>
          </a:p>
        </p:txBody>
      </p:sp>
      <p:sp>
        <p:nvSpPr>
          <p:cNvPr id="21" name="Shape 19"/>
          <p:cNvSpPr/>
          <p:nvPr/>
        </p:nvSpPr>
        <p:spPr>
          <a:xfrm>
            <a:off x="365760" y="4297680"/>
            <a:ext cx="4411980" cy="18288"/>
          </a:xfrm>
          <a:prstGeom prst="rect">
            <a:avLst/>
          </a:prstGeom>
          <a:solidFill>
            <a:srgbClr val="D4AF37"/>
          </a:solidFill>
          <a:ln/>
        </p:spPr>
      </p:sp>
      <p:sp>
        <p:nvSpPr>
          <p:cNvPr id="22" name="Shape 20"/>
          <p:cNvSpPr/>
          <p:nvPr/>
        </p:nvSpPr>
        <p:spPr>
          <a:xfrm>
            <a:off x="320040" y="4526280"/>
            <a:ext cx="4503420" cy="411480"/>
          </a:xfrm>
          <a:prstGeom prst="rect">
            <a:avLst/>
          </a:prstGeom>
          <a:solidFill>
            <a:srgbClr val="1B5E20"/>
          </a:solidFill>
          <a:ln/>
        </p:spPr>
      </p:sp>
      <p:sp>
        <p:nvSpPr>
          <p:cNvPr id="23" name="Text 21"/>
          <p:cNvSpPr/>
          <p:nvPr/>
        </p:nvSpPr>
        <p:spPr>
          <a:xfrm>
            <a:off x="365760" y="4526280"/>
            <a:ext cx="4411980" cy="411480"/>
          </a:xfrm>
          <a:prstGeom prst="rect">
            <a:avLst/>
          </a:prstGeom>
          <a:noFill/>
          <a:ln/>
        </p:spPr>
        <p:txBody>
          <a:bodyPr wrap="square" lIns="0" tIns="0" rIns="0" bIns="0" rtlCol="0" anchor="ctr"/>
          <a:lstStyle/>
          <a:p>
            <a:pPr indent="0" marL="0">
              <a:buNone/>
            </a:pPr>
            <a:r>
              <a:rPr lang="en-US" sz="1200" dirty="0">
                <a:solidFill>
                  <a:srgbClr val="FFFFFF"/>
                </a:solidFill>
                <a:latin typeface="Arial Black" pitchFamily="34" charset="0"/>
                <a:ea typeface="Arial Black" pitchFamily="34" charset="-122"/>
                <a:cs typeface="Arial Black" pitchFamily="34" charset="-120"/>
              </a:rPr>
              <a:t>横滨棒球-9 预防方案（唯一经随机试验验证）</a:t>
            </a:r>
            <a:endParaRPr lang="en-US" sz="1200" dirty="0"/>
          </a:p>
        </p:txBody>
      </p:sp>
      <p:pic>
        <p:nvPicPr>
          <p:cNvPr id="24" name="Image 0" descr="/Users/harry/Documents/WorkBuddy/棒球研究/输出/images_melugin2018/fig1_yokohama_baseball9_stretching.jpeg">    </p:cNvPr>
          <p:cNvPicPr>
            <a:picLocks noChangeAspect="1"/>
          </p:cNvPicPr>
          <p:nvPr/>
        </p:nvPicPr>
        <p:blipFill>
          <a:blip r:embed="rId1"/>
          <a:srcRect l="0" r="0" t="0" b="0"/>
          <a:stretch/>
        </p:blipFill>
        <p:spPr>
          <a:xfrm>
            <a:off x="365760" y="5074920"/>
            <a:ext cx="4411980" cy="2011680"/>
          </a:xfrm>
          <a:prstGeom prst="rect">
            <a:avLst/>
          </a:prstGeom>
        </p:spPr>
      </p:pic>
      <p:sp>
        <p:nvSpPr>
          <p:cNvPr id="25" name="Text 22"/>
          <p:cNvSpPr/>
          <p:nvPr/>
        </p:nvSpPr>
        <p:spPr>
          <a:xfrm>
            <a:off x="365760" y="7132320"/>
            <a:ext cx="4411980" cy="182880"/>
          </a:xfrm>
          <a:prstGeom prst="rect">
            <a:avLst/>
          </a:prstGeom>
          <a:noFill/>
          <a:ln/>
        </p:spPr>
        <p:txBody>
          <a:bodyPr wrap="square" lIns="0" tIns="0" rIns="0" bIns="0" rtlCol="0" anchor="ctr"/>
          <a:lstStyle/>
          <a:p>
            <a:pPr algn="ctr" indent="0" marL="0">
              <a:buNone/>
            </a:pPr>
            <a:r>
              <a:rPr lang="en-US" sz="700" i="1" dirty="0">
                <a:solidFill>
                  <a:srgbClr val="6B7885"/>
                </a:solidFill>
              </a:rPr>
              <a:t>Sakata et al. (2017) 横滨棒球-9 训练方案——拉伸与活动度训练动作</a:t>
            </a:r>
            <a:endParaRPr lang="en-US" sz="700" dirty="0"/>
          </a:p>
        </p:txBody>
      </p:sp>
      <p:sp>
        <p:nvSpPr>
          <p:cNvPr id="26" name="Text 23"/>
          <p:cNvSpPr/>
          <p:nvPr/>
        </p:nvSpPr>
        <p:spPr>
          <a:xfrm>
            <a:off x="365760" y="7360920"/>
            <a:ext cx="4411980" cy="457200"/>
          </a:xfrm>
          <a:prstGeom prst="rect">
            <a:avLst/>
          </a:prstGeom>
          <a:noFill/>
          <a:ln/>
        </p:spPr>
        <p:txBody>
          <a:bodyPr wrap="square" rtlCol="0" anchor="ctr"/>
          <a:lstStyle/>
          <a:p>
            <a:pPr indent="0" marL="0">
              <a:buNone/>
            </a:pPr>
            <a:r>
              <a:rPr lang="en-US" sz="850" dirty="0">
                <a:solidFill>
                  <a:srgbClr val="1A1A2E"/>
                </a:solidFill>
              </a:rPr>
              <a:t>经RCT验证：显著降低内侧肘关节损伤。同时改善肩旋转范围↑、髋内旋↑、下斜方肌力量↑、胸椎后凸角度改善</a:t>
            </a:r>
            <a:endParaRPr lang="en-US" sz="850" dirty="0"/>
          </a:p>
        </p:txBody>
      </p:sp>
      <p:sp>
        <p:nvSpPr>
          <p:cNvPr id="27" name="Shape 24"/>
          <p:cNvSpPr/>
          <p:nvPr/>
        </p:nvSpPr>
        <p:spPr>
          <a:xfrm>
            <a:off x="0" y="8732520"/>
            <a:ext cx="5143500" cy="411480"/>
          </a:xfrm>
          <a:prstGeom prst="rect">
            <a:avLst/>
          </a:prstGeom>
          <a:solidFill>
            <a:srgbClr val="EAE5D8"/>
          </a:solidFill>
          <a:ln/>
        </p:spPr>
      </p:sp>
      <p:sp>
        <p:nvSpPr>
          <p:cNvPr id="28" name="Shape 25"/>
          <p:cNvSpPr/>
          <p:nvPr/>
        </p:nvSpPr>
        <p:spPr>
          <a:xfrm>
            <a:off x="0" y="8732520"/>
            <a:ext cx="5143500" cy="27432"/>
          </a:xfrm>
          <a:prstGeom prst="rect">
            <a:avLst/>
          </a:prstGeom>
          <a:solidFill>
            <a:srgbClr val="C41E3A"/>
          </a:solidFill>
          <a:ln/>
        </p:spPr>
      </p:sp>
      <p:sp>
        <p:nvSpPr>
          <p:cNvPr id="29" name="Text 26"/>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D35400"/>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职业棒球 损伤与预防</a:t>
            </a:r>
            <a:endParaRPr lang="en-US" sz="2000" dirty="0"/>
          </a:p>
        </p:txBody>
      </p:sp>
      <p:sp>
        <p:nvSpPr>
          <p:cNvPr id="5" name="Shape 3"/>
          <p:cNvSpPr/>
          <p:nvPr/>
        </p:nvSpPr>
        <p:spPr>
          <a:xfrm>
            <a:off x="365760" y="1325880"/>
            <a:ext cx="4411980" cy="594360"/>
          </a:xfrm>
          <a:prstGeom prst="rect">
            <a:avLst/>
          </a:prstGeom>
          <a:solidFill>
            <a:srgbClr val="FFF3E0"/>
          </a:solidFill>
          <a:ln/>
        </p:spPr>
      </p:sp>
      <p:sp>
        <p:nvSpPr>
          <p:cNvPr id="6" name="Text 4"/>
          <p:cNvSpPr/>
          <p:nvPr/>
        </p:nvSpPr>
        <p:spPr>
          <a:xfrm>
            <a:off x="475488" y="1325880"/>
            <a:ext cx="4192524" cy="594360"/>
          </a:xfrm>
          <a:prstGeom prst="rect">
            <a:avLst/>
          </a:prstGeom>
          <a:noFill/>
          <a:ln/>
        </p:spPr>
        <p:txBody>
          <a:bodyPr wrap="square" rtlCol="0" anchor="ctr"/>
          <a:lstStyle/>
          <a:p>
            <a:pPr indent="0" marL="0">
              <a:buNone/>
            </a:pPr>
            <a:r>
              <a:rPr lang="en-US" sz="1000" b="1" dirty="0">
                <a:solidFill>
                  <a:srgbClr val="D35400"/>
                </a:solidFill>
              </a:rPr>
              <a:t>18年MLB数据 (1998–2015)  </a:t>
            </a:r>
            <a:pPr indent="0" marL="0">
              <a:buNone/>
            </a:pPr>
            <a:r>
              <a:rPr lang="en-US" sz="900" dirty="0">
                <a:solidFill>
                  <a:srgbClr val="1A1A2E"/>
                </a:solidFill>
              </a:rPr>
              <a:t>损伤发生率稳步上升 · 肩肘损伤是时间损失主因 · MUCL损伤显著增加</a:t>
            </a:r>
            <a:endParaRPr lang="en-US" sz="1000" dirty="0"/>
          </a:p>
        </p:txBody>
      </p:sp>
      <p:sp>
        <p:nvSpPr>
          <p:cNvPr id="7" name="Shape 5"/>
          <p:cNvSpPr/>
          <p:nvPr/>
        </p:nvSpPr>
        <p:spPr>
          <a:xfrm>
            <a:off x="365760" y="2148840"/>
            <a:ext cx="4411980" cy="74980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8" name="Shape 6"/>
          <p:cNvSpPr/>
          <p:nvPr/>
        </p:nvSpPr>
        <p:spPr>
          <a:xfrm>
            <a:off x="365760" y="2148840"/>
            <a:ext cx="45720" cy="749808"/>
          </a:xfrm>
          <a:prstGeom prst="rect">
            <a:avLst/>
          </a:prstGeom>
          <a:solidFill>
            <a:srgbClr val="D35400"/>
          </a:solidFill>
          <a:ln/>
        </p:spPr>
      </p:sp>
      <p:sp>
        <p:nvSpPr>
          <p:cNvPr id="9" name="Text 7"/>
          <p:cNvSpPr/>
          <p:nvPr/>
        </p:nvSpPr>
        <p:spPr>
          <a:xfrm>
            <a:off x="502920" y="2148840"/>
            <a:ext cx="1097280" cy="749808"/>
          </a:xfrm>
          <a:prstGeom prst="rect">
            <a:avLst/>
          </a:prstGeom>
          <a:noFill/>
          <a:ln/>
        </p:spPr>
        <p:txBody>
          <a:bodyPr wrap="square" lIns="0" tIns="0" rIns="0" bIns="0" rtlCol="0" anchor="ctr"/>
          <a:lstStyle/>
          <a:p>
            <a:pPr indent="0" marL="0">
              <a:buNone/>
            </a:pPr>
            <a:r>
              <a:rPr lang="en-US" sz="950" dirty="0">
                <a:solidFill>
                  <a:srgbClr val="D35400"/>
                </a:solidFill>
                <a:latin typeface="Arial Black" pitchFamily="34" charset="0"/>
                <a:ea typeface="Arial Black" pitchFamily="34" charset="-122"/>
                <a:cs typeface="Arial Black" pitchFamily="34" charset="-120"/>
              </a:rPr>
              <a:t>球速预测UCL</a:t>
            </a:r>
            <a:endParaRPr lang="en-US" sz="950" dirty="0"/>
          </a:p>
        </p:txBody>
      </p:sp>
      <p:sp>
        <p:nvSpPr>
          <p:cNvPr id="10" name="Text 8"/>
          <p:cNvSpPr/>
          <p:nvPr/>
        </p:nvSpPr>
        <p:spPr>
          <a:xfrm>
            <a:off x="1645920" y="2167128"/>
            <a:ext cx="2994660" cy="713232"/>
          </a:xfrm>
          <a:prstGeom prst="rect">
            <a:avLst/>
          </a:prstGeom>
          <a:noFill/>
          <a:ln/>
        </p:spPr>
        <p:txBody>
          <a:bodyPr wrap="square" rtlCol="0" anchor="ctr"/>
          <a:lstStyle/>
          <a:p>
            <a:pPr indent="0" marL="0">
              <a:buNone/>
            </a:pPr>
            <a:r>
              <a:rPr lang="en-US" sz="850" dirty="0">
                <a:solidFill>
                  <a:srgbClr val="1A1A2E"/>
                </a:solidFill>
              </a:rPr>
              <a:t>峰值快球速度是UCL重建的独立预测因素（Chalmers et al. 2016）。基于82,000次投球生物力学分析（Camp et al. 2017）</a:t>
            </a:r>
            <a:endParaRPr lang="en-US" sz="850" dirty="0"/>
          </a:p>
        </p:txBody>
      </p:sp>
      <p:sp>
        <p:nvSpPr>
          <p:cNvPr id="11" name="Shape 9"/>
          <p:cNvSpPr/>
          <p:nvPr/>
        </p:nvSpPr>
        <p:spPr>
          <a:xfrm>
            <a:off x="365760" y="3063240"/>
            <a:ext cx="4411980" cy="74980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2" name="Shape 10"/>
          <p:cNvSpPr/>
          <p:nvPr/>
        </p:nvSpPr>
        <p:spPr>
          <a:xfrm>
            <a:off x="365760" y="3063240"/>
            <a:ext cx="45720" cy="749808"/>
          </a:xfrm>
          <a:prstGeom prst="rect">
            <a:avLst/>
          </a:prstGeom>
          <a:solidFill>
            <a:srgbClr val="D35400"/>
          </a:solidFill>
          <a:ln/>
        </p:spPr>
      </p:sp>
      <p:sp>
        <p:nvSpPr>
          <p:cNvPr id="13" name="Text 11"/>
          <p:cNvSpPr/>
          <p:nvPr/>
        </p:nvSpPr>
        <p:spPr>
          <a:xfrm>
            <a:off x="502920" y="3063240"/>
            <a:ext cx="1097280" cy="749808"/>
          </a:xfrm>
          <a:prstGeom prst="rect">
            <a:avLst/>
          </a:prstGeom>
          <a:noFill/>
          <a:ln/>
        </p:spPr>
        <p:txBody>
          <a:bodyPr wrap="square" lIns="0" tIns="0" rIns="0" bIns="0" rtlCol="0" anchor="ctr"/>
          <a:lstStyle/>
          <a:p>
            <a:pPr indent="0" marL="0">
              <a:buNone/>
            </a:pPr>
            <a:r>
              <a:rPr lang="en-US" sz="950" dirty="0">
                <a:solidFill>
                  <a:srgbClr val="D35400"/>
                </a:solidFill>
                <a:latin typeface="Arial Black" pitchFamily="34" charset="0"/>
                <a:ea typeface="Arial Black" pitchFamily="34" charset="-122"/>
                <a:cs typeface="Arial Black" pitchFamily="34" charset="-120"/>
              </a:rPr>
              <a:t>肩关节预警</a:t>
            </a:r>
            <a:endParaRPr lang="en-US" sz="950" dirty="0"/>
          </a:p>
        </p:txBody>
      </p:sp>
      <p:sp>
        <p:nvSpPr>
          <p:cNvPr id="14" name="Text 12"/>
          <p:cNvSpPr/>
          <p:nvPr/>
        </p:nvSpPr>
        <p:spPr>
          <a:xfrm>
            <a:off x="1645920" y="3081528"/>
            <a:ext cx="2994660" cy="713232"/>
          </a:xfrm>
          <a:prstGeom prst="rect">
            <a:avLst/>
          </a:prstGeom>
          <a:noFill/>
          <a:ln/>
        </p:spPr>
        <p:txBody>
          <a:bodyPr wrap="square" rtlCol="0" anchor="ctr"/>
          <a:lstStyle/>
          <a:p>
            <a:pPr indent="0" marL="0">
              <a:buNone/>
            </a:pPr>
            <a:r>
              <a:rPr lang="en-US" sz="850" dirty="0">
                <a:solidFill>
                  <a:srgbClr val="1A1A2E"/>
                </a:solidFill>
              </a:rPr>
              <a:t>外旋和前屈减少比内旋缺失更能预测损伤——基于132个投手赛季分析（Camp et al. 2017）</a:t>
            </a:r>
            <a:endParaRPr lang="en-US" sz="850" dirty="0"/>
          </a:p>
        </p:txBody>
      </p:sp>
      <p:sp>
        <p:nvSpPr>
          <p:cNvPr id="15" name="Shape 13"/>
          <p:cNvSpPr/>
          <p:nvPr/>
        </p:nvSpPr>
        <p:spPr>
          <a:xfrm>
            <a:off x="365760" y="3977640"/>
            <a:ext cx="4411980" cy="749808"/>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6" name="Shape 14"/>
          <p:cNvSpPr/>
          <p:nvPr/>
        </p:nvSpPr>
        <p:spPr>
          <a:xfrm>
            <a:off x="365760" y="3977640"/>
            <a:ext cx="45720" cy="749808"/>
          </a:xfrm>
          <a:prstGeom prst="rect">
            <a:avLst/>
          </a:prstGeom>
          <a:solidFill>
            <a:srgbClr val="D35400"/>
          </a:solidFill>
          <a:ln/>
        </p:spPr>
      </p:sp>
      <p:sp>
        <p:nvSpPr>
          <p:cNvPr id="17" name="Text 15"/>
          <p:cNvSpPr/>
          <p:nvPr/>
        </p:nvSpPr>
        <p:spPr>
          <a:xfrm>
            <a:off x="502920" y="3977640"/>
            <a:ext cx="1097280" cy="749808"/>
          </a:xfrm>
          <a:prstGeom prst="rect">
            <a:avLst/>
          </a:prstGeom>
          <a:noFill/>
          <a:ln/>
        </p:spPr>
        <p:txBody>
          <a:bodyPr wrap="square" lIns="0" tIns="0" rIns="0" bIns="0" rtlCol="0" anchor="ctr"/>
          <a:lstStyle/>
          <a:p>
            <a:pPr indent="0" marL="0">
              <a:buNone/>
            </a:pPr>
            <a:r>
              <a:rPr lang="en-US" sz="950" dirty="0">
                <a:solidFill>
                  <a:srgbClr val="D35400"/>
                </a:solidFill>
                <a:latin typeface="Arial Black" pitchFamily="34" charset="0"/>
                <a:ea typeface="Arial Black" pitchFamily="34" charset="-122"/>
                <a:cs typeface="Arial Black" pitchFamily="34" charset="-120"/>
              </a:rPr>
              <a:t>腘绳肌损伤</a:t>
            </a:r>
            <a:endParaRPr lang="en-US" sz="950" dirty="0"/>
          </a:p>
        </p:txBody>
      </p:sp>
      <p:sp>
        <p:nvSpPr>
          <p:cNvPr id="18" name="Text 16"/>
          <p:cNvSpPr/>
          <p:nvPr/>
        </p:nvSpPr>
        <p:spPr>
          <a:xfrm>
            <a:off x="1645920" y="3995928"/>
            <a:ext cx="2994660" cy="713232"/>
          </a:xfrm>
          <a:prstGeom prst="rect">
            <a:avLst/>
          </a:prstGeom>
          <a:noFill/>
          <a:ln/>
        </p:spPr>
        <p:txBody>
          <a:bodyPr wrap="square" rtlCol="0" anchor="ctr"/>
          <a:lstStyle/>
          <a:p>
            <a:pPr indent="0" marL="0">
              <a:buNone/>
            </a:pPr>
            <a:r>
              <a:rPr lang="en-US" sz="850" dirty="0">
                <a:solidFill>
                  <a:srgbClr val="1A1A2E"/>
                </a:solidFill>
              </a:rPr>
              <a:t>Nordic腘绳肌离心强化练习可降低职业棒球队腘绳肌损伤发生率和时间损失（Seagrave et al. 2014）</a:t>
            </a:r>
            <a:endParaRPr lang="en-US" sz="850" dirty="0"/>
          </a:p>
        </p:txBody>
      </p:sp>
      <p:sp>
        <p:nvSpPr>
          <p:cNvPr id="19" name="Shape 17"/>
          <p:cNvSpPr/>
          <p:nvPr/>
        </p:nvSpPr>
        <p:spPr>
          <a:xfrm>
            <a:off x="365760" y="5029200"/>
            <a:ext cx="4411980" cy="18288"/>
          </a:xfrm>
          <a:prstGeom prst="rect">
            <a:avLst/>
          </a:prstGeom>
          <a:solidFill>
            <a:srgbClr val="D4AF37"/>
          </a:solidFill>
          <a:ln/>
        </p:spPr>
      </p:sp>
      <p:sp>
        <p:nvSpPr>
          <p:cNvPr id="20" name="Shape 18"/>
          <p:cNvSpPr/>
          <p:nvPr/>
        </p:nvSpPr>
        <p:spPr>
          <a:xfrm>
            <a:off x="320040" y="5212080"/>
            <a:ext cx="4503420" cy="365760"/>
          </a:xfrm>
          <a:prstGeom prst="rect">
            <a:avLst/>
          </a:prstGeom>
          <a:solidFill>
            <a:srgbClr val="D35400"/>
          </a:solidFill>
          <a:ln/>
        </p:spPr>
      </p:sp>
      <p:sp>
        <p:nvSpPr>
          <p:cNvPr id="21" name="Text 19"/>
          <p:cNvSpPr/>
          <p:nvPr/>
        </p:nvSpPr>
        <p:spPr>
          <a:xfrm>
            <a:off x="365760" y="5212080"/>
            <a:ext cx="4411980" cy="365760"/>
          </a:xfrm>
          <a:prstGeom prst="rect">
            <a:avLst/>
          </a:prstGeom>
          <a:noFill/>
          <a:ln/>
        </p:spPr>
        <p:txBody>
          <a:bodyPr wrap="square" lIns="0" tIns="0" rIns="0" bIns="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Nordic 腘绳肌离心强化练习</a:t>
            </a:r>
            <a:endParaRPr lang="en-US" sz="1100" dirty="0"/>
          </a:p>
        </p:txBody>
      </p:sp>
      <p:pic>
        <p:nvPicPr>
          <p:cNvPr id="22" name="Image 0" descr="/Users/harry/Documents/WorkBuddy/棒球研究/输出/images_melugin2018/fig3_nordic_hamstring.jpeg">    </p:cNvPr>
          <p:cNvPicPr>
            <a:picLocks noChangeAspect="1"/>
          </p:cNvPicPr>
          <p:nvPr/>
        </p:nvPicPr>
        <p:blipFill>
          <a:blip r:embed="rId1"/>
          <a:srcRect l="0" r="0" t="0" b="0"/>
          <a:stretch/>
        </p:blipFill>
        <p:spPr>
          <a:xfrm>
            <a:off x="365760" y="5669280"/>
            <a:ext cx="4411980" cy="1554480"/>
          </a:xfrm>
          <a:prstGeom prst="rect">
            <a:avLst/>
          </a:prstGeom>
        </p:spPr>
      </p:pic>
      <p:sp>
        <p:nvSpPr>
          <p:cNvPr id="23" name="Text 20"/>
          <p:cNvSpPr/>
          <p:nvPr/>
        </p:nvSpPr>
        <p:spPr>
          <a:xfrm>
            <a:off x="365760" y="7269480"/>
            <a:ext cx="4411980" cy="164592"/>
          </a:xfrm>
          <a:prstGeom prst="rect">
            <a:avLst/>
          </a:prstGeom>
          <a:noFill/>
          <a:ln/>
        </p:spPr>
        <p:txBody>
          <a:bodyPr wrap="square" lIns="0" tIns="0" rIns="0" bIns="0" rtlCol="0" anchor="ctr"/>
          <a:lstStyle/>
          <a:p>
            <a:pPr algn="ctr" indent="0" marL="0">
              <a:buNone/>
            </a:pPr>
            <a:r>
              <a:rPr lang="en-US" sz="700" i="1" dirty="0">
                <a:solidFill>
                  <a:srgbClr val="6B7885"/>
                </a:solidFill>
              </a:rPr>
              <a:t>Seagrave et al. (2014) — 离心/Nordic腘绳肌强化练习示意图</a:t>
            </a:r>
            <a:endParaRPr lang="en-US" sz="700" dirty="0"/>
          </a:p>
        </p:txBody>
      </p:sp>
      <p:sp>
        <p:nvSpPr>
          <p:cNvPr id="24" name="Text 21"/>
          <p:cNvSpPr/>
          <p:nvPr/>
        </p:nvSpPr>
        <p:spPr>
          <a:xfrm>
            <a:off x="365760" y="7498080"/>
            <a:ext cx="4411980" cy="365760"/>
          </a:xfrm>
          <a:prstGeom prst="rect">
            <a:avLst/>
          </a:prstGeom>
          <a:noFill/>
          <a:ln/>
        </p:spPr>
        <p:txBody>
          <a:bodyPr wrap="square" rtlCol="0" anchor="ctr"/>
          <a:lstStyle/>
          <a:p>
            <a:pPr indent="0" marL="0">
              <a:buNone/>
            </a:pPr>
            <a:r>
              <a:rPr lang="en-US" sz="850" dirty="0">
                <a:solidFill>
                  <a:srgbClr val="1A1A2E"/>
                </a:solidFill>
              </a:rPr>
              <a:t>职业水平关键启示：过度使用与损伤因果未证实，但球速监控 + 肩袖活动度维护 + 离心训练至关重要</a:t>
            </a:r>
            <a:endParaRPr lang="en-US" sz="850" dirty="0"/>
          </a:p>
        </p:txBody>
      </p:sp>
      <p:sp>
        <p:nvSpPr>
          <p:cNvPr id="25" name="Shape 22"/>
          <p:cNvSpPr/>
          <p:nvPr/>
        </p:nvSpPr>
        <p:spPr>
          <a:xfrm>
            <a:off x="0" y="8732520"/>
            <a:ext cx="5143500" cy="411480"/>
          </a:xfrm>
          <a:prstGeom prst="rect">
            <a:avLst/>
          </a:prstGeom>
          <a:solidFill>
            <a:srgbClr val="EAE5D8"/>
          </a:solidFill>
          <a:ln/>
        </p:spPr>
      </p:sp>
      <p:sp>
        <p:nvSpPr>
          <p:cNvPr id="26" name="Shape 23"/>
          <p:cNvSpPr/>
          <p:nvPr/>
        </p:nvSpPr>
        <p:spPr>
          <a:xfrm>
            <a:off x="0" y="8732520"/>
            <a:ext cx="5143500" cy="27432"/>
          </a:xfrm>
          <a:prstGeom prst="rect">
            <a:avLst/>
          </a:prstGeom>
          <a:solidFill>
            <a:srgbClr val="C41E3A"/>
          </a:solidFill>
          <a:ln/>
        </p:spPr>
      </p:sp>
      <p:sp>
        <p:nvSpPr>
          <p:cNvPr id="27" name="Text 24"/>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D4AF37"/>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青少年 vs 职业：差异化预防策略</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4411980" cy="914400"/>
        </p:xfrm>
        <a:graphic>
          <a:graphicData uri="http://schemas.openxmlformats.org/drawingml/2006/table">
            <a:tbl>
              <a:tblPr/>
              <a:tblGrid>
                <a:gridCol w="1470660"/>
                <a:gridCol w="1470660"/>
                <a:gridCol w="1470660"/>
              </a:tblGrid>
              <a:tr h="365760">
                <a:tc>
                  <a:txBody>
                    <a:bodyPr/>
                    <a:lstStyle/>
                    <a:p>
                      <a:pPr algn="l" indent="0" marL="0">
                        <a:buNone/>
                      </a:pPr>
                      <a:r>
                        <a:rPr lang="en-US" sz="1000" b="1" dirty="0">
                          <a:solidFill>
                            <a:srgbClr val="FFFFFF"/>
                          </a:solidFill>
                          <a:latin typeface="Arial Black" pitchFamily="34" charset="0"/>
                          <a:ea typeface="Arial Black" pitchFamily="34" charset="-122"/>
                          <a:cs typeface="Arial Black" pitchFamily="34" charset="-120"/>
                        </a:rPr>
                        <a:t>维度</a:t>
                      </a:r>
                      <a:endParaRPr lang="en-US" sz="100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1A3A5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 青少年 (Youth)</a:t>
                      </a:r>
                      <a:endParaRPr lang="en-US" sz="10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1A3A5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 职业 (Professional)</a:t>
                      </a:r>
                      <a:endParaRPr lang="en-US" sz="10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1A3A5C"/>
                    </a:solidFill>
                  </a:tcPr>
                </a:tc>
              </a:tr>
              <a:tr h="502920">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损伤机制</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过度使用（已证实）</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因果关系未被证实</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r h="438912">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投球数管理</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 严格监控，至关重要</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仍需监控，非核心关注</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r h="594360">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变化球</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生物力学未发现更危险</a:t>
                      </a:r>
                      <a:endParaRPr lang="en-US" sz="800" dirty="0">
                        <a:latin typeface="Calibri" charset="0"/>
                        <a:ea typeface="Calibri" charset="0"/>
                        <a:cs typeface="Calibri" charset="0"/>
                      </a:endParaRPr>
                    </a:p>
                    <a:p>
                      <a:pPr algn="l" indent="0" marL="0">
                        <a:buNone/>
                      </a:pPr>
                      <a:r>
                        <a:rPr lang="en-US" sz="800" dirty="0">
                          <a:solidFill>
                            <a:srgbClr val="1A1A2E"/>
                          </a:solidFill>
                          <a:latin typeface="Calibri" pitchFamily="34" charset="0"/>
                          <a:ea typeface="Calibri" pitchFamily="34" charset="-122"/>
                          <a:cs typeface="Calibri" pitchFamily="34" charset="-120"/>
                        </a:rPr>
                        <a:t>关键在总体负荷</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关注球速和球种</a:t>
                      </a:r>
                      <a:endParaRPr lang="en-US" sz="800" dirty="0">
                        <a:latin typeface="Calibri" charset="0"/>
                        <a:ea typeface="Calibri" charset="0"/>
                        <a:cs typeface="Calibri" charset="0"/>
                      </a:endParaRPr>
                    </a:p>
                    <a:p>
                      <a:pPr algn="l" indent="0" marL="0">
                        <a:buNone/>
                      </a:pPr>
                      <a:r>
                        <a:rPr lang="en-US" sz="800" dirty="0">
                          <a:solidFill>
                            <a:srgbClr val="1A1A2E"/>
                          </a:solidFill>
                          <a:latin typeface="Calibri" pitchFamily="34" charset="0"/>
                          <a:ea typeface="Calibri" pitchFamily="34" charset="-122"/>
                          <a:cs typeface="Calibri" pitchFamily="34" charset="-120"/>
                        </a:rPr>
                        <a:t>与UCL损伤关联</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r h="438912">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上肢重点</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UCL损伤、关节活动度</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UCL损伤、肩袖、球速</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r h="502920">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下肢重点</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髋关节活动度</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腘绳肌 → Nordic训练</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r h="658368">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关键预防</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横滨棒球-9 · 严禁带痛投球</a:t>
                      </a:r>
                      <a:endParaRPr lang="en-US" sz="800" dirty="0">
                        <a:latin typeface="Calibri" charset="0"/>
                        <a:ea typeface="Calibri" charset="0"/>
                        <a:cs typeface="Calibri" charset="0"/>
                      </a:endParaRPr>
                    </a:p>
                    <a:p>
                      <a:pPr algn="l" indent="0" marL="0">
                        <a:buNone/>
                      </a:pPr>
                      <a:r>
                        <a:rPr lang="en-US" sz="800" dirty="0">
                          <a:solidFill>
                            <a:srgbClr val="1A1A2E"/>
                          </a:solidFill>
                          <a:latin typeface="Calibri" pitchFamily="34" charset="0"/>
                          <a:ea typeface="Calibri" pitchFamily="34" charset="-122"/>
                          <a:cs typeface="Calibri" pitchFamily="34" charset="-120"/>
                        </a:rPr>
                        <a:t>安全器材 · 普及教育</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活动度维持 · 球速监控</a:t>
                      </a:r>
                      <a:endParaRPr lang="en-US" sz="800" dirty="0">
                        <a:latin typeface="Calibri" charset="0"/>
                        <a:ea typeface="Calibri" charset="0"/>
                        <a:cs typeface="Calibri" charset="0"/>
                      </a:endParaRPr>
                    </a:p>
                    <a:p>
                      <a:pPr algn="l" indent="0" marL="0">
                        <a:buNone/>
                      </a:pPr>
                      <a:r>
                        <a:rPr lang="en-US" sz="800" dirty="0">
                          <a:solidFill>
                            <a:srgbClr val="1A1A2E"/>
                          </a:solidFill>
                          <a:latin typeface="Calibri" pitchFamily="34" charset="0"/>
                          <a:ea typeface="Calibri" pitchFamily="34" charset="-122"/>
                          <a:cs typeface="Calibri" pitchFamily="34" charset="-120"/>
                        </a:rPr>
                        <a:t>改良睡眠者拉伸</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r h="502920">
                <a:tc>
                  <a:txBody>
                    <a:bodyPr/>
                    <a:lstStyle/>
                    <a:p>
                      <a:pPr algn="l" indent="0" marL="0">
                        <a:buNone/>
                      </a:pPr>
                      <a:r>
                        <a:rPr lang="en-US" sz="850" b="1" dirty="0">
                          <a:solidFill>
                            <a:srgbClr val="1A3A5C"/>
                          </a:solidFill>
                          <a:latin typeface="Arial Black" pitchFamily="34" charset="0"/>
                          <a:ea typeface="Arial Black" pitchFamily="34" charset="-122"/>
                          <a:cs typeface="Arial Black" pitchFamily="34" charset="-120"/>
                        </a:rPr>
                        <a:t>独特风险</a:t>
                      </a:r>
                      <a:endParaRPr lang="en-US" sz="850" dirty="0">
                        <a:latin typeface="Arial Black" charset="0"/>
                        <a:ea typeface="Arial Black" charset="0"/>
                        <a:cs typeface="Arial Black"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46%被鼓励带痛投球</a:t>
                      </a:r>
                      <a:endParaRPr lang="en-US" sz="800" dirty="0">
                        <a:latin typeface="Calibri" charset="0"/>
                        <a:ea typeface="Calibri" charset="0"/>
                        <a:cs typeface="Calibri" charset="0"/>
                      </a:endParaRPr>
                    </a:p>
                    <a:p>
                      <a:pPr algn="l" indent="0" marL="0">
                        <a:buNone/>
                      </a:pPr>
                      <a:r>
                        <a:rPr lang="en-US" sz="800" dirty="0">
                          <a:solidFill>
                            <a:srgbClr val="1A1A2E"/>
                          </a:solidFill>
                          <a:latin typeface="Calibri" pitchFamily="34" charset="0"/>
                          <a:ea typeface="Calibri" pitchFamily="34" charset="-122"/>
                          <a:cs typeface="Calibri" pitchFamily="34" charset="-120"/>
                        </a:rPr>
                        <a:t>预防知识普及不足</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EFF6FC"/>
                    </a:solidFill>
                  </a:tcPr>
                </a:tc>
                <a:tc>
                  <a:txBody>
                    <a:bodyPr/>
                    <a:lstStyle/>
                    <a:p>
                      <a:pPr algn="l" indent="0" marL="0">
                        <a:buNone/>
                      </a:pPr>
                      <a:r>
                        <a:rPr lang="en-US" sz="800" dirty="0">
                          <a:solidFill>
                            <a:srgbClr val="1A1A2E"/>
                          </a:solidFill>
                          <a:latin typeface="Calibri" pitchFamily="34" charset="0"/>
                          <a:ea typeface="Calibri" pitchFamily="34" charset="-122"/>
                          <a:cs typeface="Calibri" pitchFamily="34" charset="-120"/>
                        </a:rPr>
                        <a:t>峰值球速预测UCL</a:t>
                      </a:r>
                      <a:endParaRPr lang="en-US" sz="800" dirty="0">
                        <a:latin typeface="Calibri" charset="0"/>
                        <a:ea typeface="Calibri" charset="0"/>
                        <a:cs typeface="Calibri" charset="0"/>
                      </a:endParaRPr>
                    </a:p>
                    <a:p>
                      <a:pPr algn="l" indent="0" marL="0">
                        <a:buNone/>
                      </a:pPr>
                      <a:r>
                        <a:rPr lang="en-US" sz="800" dirty="0">
                          <a:solidFill>
                            <a:srgbClr val="1A1A2E"/>
                          </a:solidFill>
                          <a:latin typeface="Calibri" pitchFamily="34" charset="0"/>
                          <a:ea typeface="Calibri" pitchFamily="34" charset="-122"/>
                          <a:cs typeface="Calibri" pitchFamily="34" charset="-120"/>
                        </a:rPr>
                        <a:t>累积工作量</a:t>
                      </a:r>
                      <a:endParaRPr lang="en-US" sz="800" dirty="0">
                        <a:latin typeface="Calibri" charset="0"/>
                        <a:ea typeface="Calibri" charset="0"/>
                        <a:cs typeface="Calibri" charset="0"/>
                      </a:endParaRPr>
                    </a:p>
                  </a:txBody>
                  <a:tcPr marL="63500" marR="63500" marT="25400" marB="25400" anchor="ctr">
                    <a:lnL w="3810" cap="flat" cmpd="sng" algn="ctr">
                      <a:solidFill>
                        <a:srgbClr val="D8DCDE"/>
                      </a:solidFill>
                      <a:prstDash val="solid"/>
                      <a:round/>
                      <a:headEnd type="none" w="med" len="med"/>
                      <a:tailEnd type="none" w="med" len="med"/>
                    </a:lnL>
                    <a:lnR w="3810" cap="flat" cmpd="sng" algn="ctr">
                      <a:solidFill>
                        <a:srgbClr val="D8DCDE"/>
                      </a:solidFill>
                      <a:prstDash val="solid"/>
                      <a:round/>
                      <a:headEnd type="none" w="med" len="med"/>
                      <a:tailEnd type="none" w="med" len="med"/>
                    </a:lnR>
                    <a:lnT w="3810" cap="flat" cmpd="sng" algn="ctr">
                      <a:solidFill>
                        <a:srgbClr val="D8DCDE"/>
                      </a:solidFill>
                      <a:prstDash val="solid"/>
                      <a:round/>
                      <a:headEnd type="none" w="med" len="med"/>
                      <a:tailEnd type="none" w="med" len="med"/>
                    </a:lnT>
                    <a:lnB w="3810" cap="flat" cmpd="sng" algn="ctr">
                      <a:solidFill>
                        <a:srgbClr val="D8DCDE"/>
                      </a:solidFill>
                      <a:prstDash val="solid"/>
                      <a:round/>
                      <a:headEnd type="none" w="med" len="med"/>
                      <a:tailEnd type="none" w="med" len="med"/>
                    </a:lnB>
                    <a:solidFill>
                      <a:srgbClr val="FFF8EC"/>
                    </a:solidFill>
                  </a:tcPr>
                </a:tc>
              </a:tr>
            </a:tbl>
          </a:graphicData>
        </a:graphic>
      </p:graphicFrame>
      <p:sp>
        <p:nvSpPr>
          <p:cNvPr id="6" name="Shape 3"/>
          <p:cNvSpPr/>
          <p:nvPr/>
        </p:nvSpPr>
        <p:spPr>
          <a:xfrm>
            <a:off x="365760" y="5650992"/>
            <a:ext cx="4411980" cy="640080"/>
          </a:xfrm>
          <a:prstGeom prst="rect">
            <a:avLst/>
          </a:prstGeom>
          <a:solidFill>
            <a:srgbClr val="1A3A5C"/>
          </a:solidFill>
          <a:ln/>
          <a:effectLst>
            <a:outerShdw sx="100000" sy="100000" kx="0" ky="0" algn="bl" rotWithShape="0" blurRad="63500" dist="25400" dir="8100000">
              <a:srgbClr val="000000">
                <a:alpha val="10000"/>
              </a:srgbClr>
            </a:outerShdw>
          </a:effectLst>
        </p:spPr>
      </p:sp>
      <p:sp>
        <p:nvSpPr>
          <p:cNvPr id="7" name="Text 4"/>
          <p:cNvSpPr/>
          <p:nvPr/>
        </p:nvSpPr>
        <p:spPr>
          <a:xfrm>
            <a:off x="548640" y="5650992"/>
            <a:ext cx="4046220" cy="640080"/>
          </a:xfrm>
          <a:prstGeom prst="rect">
            <a:avLst/>
          </a:prstGeom>
          <a:noFill/>
          <a:ln/>
        </p:spPr>
        <p:txBody>
          <a:bodyPr wrap="square" rtlCol="0" anchor="ctr"/>
          <a:lstStyle/>
          <a:p>
            <a:pPr algn="ctr" indent="0" marL="0">
              <a:buNone/>
            </a:pPr>
            <a:r>
              <a:rPr lang="en-US" sz="1000" b="1" dirty="0">
                <a:solidFill>
                  <a:srgbClr val="FFFFFF"/>
                </a:solidFill>
              </a:rPr>
              <a:t>每个级别需要针对性设计独特的损伤预防策略。一刀切的方案行不通。</a:t>
            </a:r>
            <a:endParaRPr lang="en-US" sz="1000" dirty="0"/>
          </a:p>
        </p:txBody>
      </p:sp>
      <p:sp>
        <p:nvSpPr>
          <p:cNvPr id="8" name="Text 5"/>
          <p:cNvSpPr/>
          <p:nvPr/>
        </p:nvSpPr>
        <p:spPr>
          <a:xfrm>
            <a:off x="365760" y="6428232"/>
            <a:ext cx="4411980" cy="365760"/>
          </a:xfrm>
          <a:prstGeom prst="rect">
            <a:avLst/>
          </a:prstGeom>
          <a:noFill/>
          <a:ln/>
        </p:spPr>
        <p:txBody>
          <a:bodyPr wrap="square" rtlCol="0" anchor="ctr"/>
          <a:lstStyle/>
          <a:p>
            <a:pPr algn="ctr" indent="0" marL="0">
              <a:buNone/>
            </a:pPr>
            <a:r>
              <a:rPr lang="en-US" sz="800" dirty="0">
                <a:solidFill>
                  <a:srgbClr val="6B7885"/>
                </a:solidFill>
              </a:rPr>
              <a:t>论据支撑：本文综述60+篇文献，涵盖RCT、前瞻队列、回顾性分析及生物力学研究，证据等级从I级到IV级不等</a:t>
            </a:r>
            <a:endParaRPr lang="en-US" sz="800" dirty="0"/>
          </a:p>
        </p:txBody>
      </p:sp>
      <p:sp>
        <p:nvSpPr>
          <p:cNvPr id="9" name="Shape 6"/>
          <p:cNvSpPr/>
          <p:nvPr/>
        </p:nvSpPr>
        <p:spPr>
          <a:xfrm>
            <a:off x="0" y="8732520"/>
            <a:ext cx="5143500" cy="411480"/>
          </a:xfrm>
          <a:prstGeom prst="rect">
            <a:avLst/>
          </a:prstGeom>
          <a:solidFill>
            <a:srgbClr val="EAE5D8"/>
          </a:solidFill>
          <a:ln/>
        </p:spPr>
      </p:sp>
      <p:sp>
        <p:nvSpPr>
          <p:cNvPr id="10" name="Shape 7"/>
          <p:cNvSpPr/>
          <p:nvPr/>
        </p:nvSpPr>
        <p:spPr>
          <a:xfrm>
            <a:off x="0" y="8732520"/>
            <a:ext cx="5143500" cy="27432"/>
          </a:xfrm>
          <a:prstGeom prst="rect">
            <a:avLst/>
          </a:prstGeom>
          <a:solidFill>
            <a:srgbClr val="C41E3A"/>
          </a:solidFill>
          <a:ln/>
        </p:spPr>
      </p:sp>
      <p:sp>
        <p:nvSpPr>
          <p:cNvPr id="11" name="Text 8"/>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1B5E20"/>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预防策略框架</a:t>
            </a:r>
            <a:endParaRPr lang="en-US" sz="2000" dirty="0"/>
          </a:p>
        </p:txBody>
      </p:sp>
      <p:sp>
        <p:nvSpPr>
          <p:cNvPr id="5" name="Shape 3"/>
          <p:cNvSpPr/>
          <p:nvPr/>
        </p:nvSpPr>
        <p:spPr>
          <a:xfrm>
            <a:off x="365760" y="1417320"/>
            <a:ext cx="2114550" cy="1828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65760" y="1417320"/>
            <a:ext cx="2114550" cy="36576"/>
          </a:xfrm>
          <a:prstGeom prst="rect">
            <a:avLst/>
          </a:prstGeom>
          <a:solidFill>
            <a:srgbClr val="2E7D32"/>
          </a:solidFill>
          <a:ln/>
        </p:spPr>
      </p:sp>
      <p:sp>
        <p:nvSpPr>
          <p:cNvPr id="7" name="Shape 5"/>
          <p:cNvSpPr/>
          <p:nvPr/>
        </p:nvSpPr>
        <p:spPr>
          <a:xfrm>
            <a:off x="1240155" y="1600200"/>
            <a:ext cx="365760" cy="365760"/>
          </a:xfrm>
          <a:prstGeom prst="ellipse">
            <a:avLst/>
          </a:prstGeom>
          <a:solidFill>
            <a:srgbClr val="2E7D32"/>
          </a:solidFill>
          <a:ln/>
        </p:spPr>
      </p:sp>
      <p:sp>
        <p:nvSpPr>
          <p:cNvPr id="8" name="Text 6"/>
          <p:cNvSpPr/>
          <p:nvPr/>
        </p:nvSpPr>
        <p:spPr>
          <a:xfrm>
            <a:off x="1240155" y="160020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Text 7"/>
          <p:cNvSpPr/>
          <p:nvPr/>
        </p:nvSpPr>
        <p:spPr>
          <a:xfrm>
            <a:off x="457200" y="2103120"/>
            <a:ext cx="1931670" cy="320040"/>
          </a:xfrm>
          <a:prstGeom prst="rect">
            <a:avLst/>
          </a:prstGeom>
          <a:noFill/>
          <a:ln/>
        </p:spPr>
        <p:txBody>
          <a:bodyPr wrap="square" lIns="0" tIns="0" rIns="0" bIns="0" rtlCol="0" anchor="ctr"/>
          <a:lstStyle/>
          <a:p>
            <a:pPr algn="ctr" indent="0" marL="0">
              <a:buNone/>
            </a:pPr>
            <a:r>
              <a:rPr lang="en-US" sz="1300" dirty="0">
                <a:solidFill>
                  <a:srgbClr val="2E7D32"/>
                </a:solidFill>
                <a:latin typeface="Arial Black" pitchFamily="34" charset="0"/>
                <a:ea typeface="Arial Black" pitchFamily="34" charset="-122"/>
                <a:cs typeface="Arial Black" pitchFamily="34" charset="-120"/>
              </a:rPr>
              <a:t>拉伸方案</a:t>
            </a:r>
            <a:endParaRPr lang="en-US" sz="1300" dirty="0"/>
          </a:p>
        </p:txBody>
      </p:sp>
      <p:sp>
        <p:nvSpPr>
          <p:cNvPr id="10" name="Text 8"/>
          <p:cNvSpPr/>
          <p:nvPr/>
        </p:nvSpPr>
        <p:spPr>
          <a:xfrm>
            <a:off x="457200" y="2468880"/>
            <a:ext cx="1931670" cy="594360"/>
          </a:xfrm>
          <a:prstGeom prst="rect">
            <a:avLst/>
          </a:prstGeom>
          <a:noFill/>
          <a:ln/>
        </p:spPr>
        <p:txBody>
          <a:bodyPr wrap="square" rtlCol="0" anchor="t"/>
          <a:lstStyle/>
          <a:p>
            <a:pPr algn="ctr" indent="0" marL="0">
              <a:buNone/>
            </a:pPr>
            <a:r>
              <a:rPr lang="en-US" sz="900" dirty="0">
                <a:solidFill>
                  <a:srgbClr val="1A1A2E"/>
                </a:solidFill>
              </a:rPr>
              <a:t>改良睡眠者拉伸</a:t>
            </a:r>
            <a:endParaRPr lang="en-US" sz="900" dirty="0"/>
          </a:p>
          <a:p>
            <a:pPr algn="ctr" indent="0" marL="0">
              <a:buNone/>
            </a:pPr>
            <a:r>
              <a:rPr lang="en-US" sz="900" dirty="0">
                <a:solidFill>
                  <a:srgbClr val="1A1A2E"/>
                </a:solidFill>
              </a:rPr>
              <a:t>改良交叉身体拉伸</a:t>
            </a:r>
            <a:endParaRPr lang="en-US" sz="900" dirty="0"/>
          </a:p>
          <a:p>
            <a:pPr algn="ctr" indent="0" marL="0">
              <a:buNone/>
            </a:pPr>
            <a:r>
              <a:rPr lang="en-US" sz="900" dirty="0">
                <a:solidFill>
                  <a:srgbClr val="1A1A2E"/>
                </a:solidFill>
              </a:rPr>
              <a:t>横滨棒球-9综合方案</a:t>
            </a:r>
            <a:endParaRPr lang="en-US" sz="900" dirty="0"/>
          </a:p>
        </p:txBody>
      </p:sp>
      <p:sp>
        <p:nvSpPr>
          <p:cNvPr id="11" name="Shape 9"/>
          <p:cNvSpPr/>
          <p:nvPr/>
        </p:nvSpPr>
        <p:spPr>
          <a:xfrm>
            <a:off x="2663190" y="1417320"/>
            <a:ext cx="2114550" cy="1828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2" name="Shape 10"/>
          <p:cNvSpPr/>
          <p:nvPr/>
        </p:nvSpPr>
        <p:spPr>
          <a:xfrm>
            <a:off x="2663190" y="1417320"/>
            <a:ext cx="2114550" cy="36576"/>
          </a:xfrm>
          <a:prstGeom prst="rect">
            <a:avLst/>
          </a:prstGeom>
          <a:solidFill>
            <a:srgbClr val="1565C0"/>
          </a:solidFill>
          <a:ln/>
        </p:spPr>
      </p:sp>
      <p:sp>
        <p:nvSpPr>
          <p:cNvPr id="13" name="Shape 11"/>
          <p:cNvSpPr/>
          <p:nvPr/>
        </p:nvSpPr>
        <p:spPr>
          <a:xfrm>
            <a:off x="3537585" y="1600200"/>
            <a:ext cx="365760" cy="365760"/>
          </a:xfrm>
          <a:prstGeom prst="ellipse">
            <a:avLst/>
          </a:prstGeom>
          <a:solidFill>
            <a:srgbClr val="1565C0"/>
          </a:solidFill>
          <a:ln/>
        </p:spPr>
      </p:sp>
      <p:sp>
        <p:nvSpPr>
          <p:cNvPr id="14" name="Text 12"/>
          <p:cNvSpPr/>
          <p:nvPr/>
        </p:nvSpPr>
        <p:spPr>
          <a:xfrm>
            <a:off x="3537585" y="160020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754630" y="2103120"/>
            <a:ext cx="1931670" cy="320040"/>
          </a:xfrm>
          <a:prstGeom prst="rect">
            <a:avLst/>
          </a:prstGeom>
          <a:noFill/>
          <a:ln/>
        </p:spPr>
        <p:txBody>
          <a:bodyPr wrap="square" lIns="0" tIns="0" rIns="0" bIns="0" rtlCol="0" anchor="ctr"/>
          <a:lstStyle/>
          <a:p>
            <a:pPr algn="ctr" indent="0" marL="0">
              <a:buNone/>
            </a:pPr>
            <a:r>
              <a:rPr lang="en-US" sz="1300" dirty="0">
                <a:solidFill>
                  <a:srgbClr val="1565C0"/>
                </a:solidFill>
                <a:latin typeface="Arial Black" pitchFamily="34" charset="0"/>
                <a:ea typeface="Arial Black" pitchFamily="34" charset="-122"/>
                <a:cs typeface="Arial Black" pitchFamily="34" charset="-120"/>
              </a:rPr>
              <a:t>力量强化</a:t>
            </a:r>
            <a:endParaRPr lang="en-US" sz="1300" dirty="0"/>
          </a:p>
        </p:txBody>
      </p:sp>
      <p:sp>
        <p:nvSpPr>
          <p:cNvPr id="16" name="Text 14"/>
          <p:cNvSpPr/>
          <p:nvPr/>
        </p:nvSpPr>
        <p:spPr>
          <a:xfrm>
            <a:off x="2754630" y="2468880"/>
            <a:ext cx="1931670" cy="594360"/>
          </a:xfrm>
          <a:prstGeom prst="rect">
            <a:avLst/>
          </a:prstGeom>
          <a:noFill/>
          <a:ln/>
        </p:spPr>
        <p:txBody>
          <a:bodyPr wrap="square" rtlCol="0" anchor="t"/>
          <a:lstStyle/>
          <a:p>
            <a:pPr algn="ctr" indent="0" marL="0">
              <a:buNone/>
            </a:pPr>
            <a:r>
              <a:rPr lang="en-US" sz="900" dirty="0">
                <a:solidFill>
                  <a:srgbClr val="1A1A2E"/>
                </a:solidFill>
              </a:rPr>
              <a:t>Nordic腘绳肌离心练习</a:t>
            </a:r>
            <a:endParaRPr lang="en-US" sz="900" dirty="0"/>
          </a:p>
          <a:p>
            <a:pPr algn="ctr" indent="0" marL="0">
              <a:buNone/>
            </a:pPr>
            <a:r>
              <a:rPr lang="en-US" sz="900" dirty="0">
                <a:solidFill>
                  <a:srgbClr val="1A1A2E"/>
                </a:solidFill>
              </a:rPr>
              <a:t>核心稳定性训练</a:t>
            </a:r>
            <a:endParaRPr lang="en-US" sz="900" dirty="0"/>
          </a:p>
          <a:p>
            <a:pPr algn="ctr" indent="0" marL="0">
              <a:buNone/>
            </a:pPr>
            <a:r>
              <a:rPr lang="en-US" sz="900" dirty="0">
                <a:solidFill>
                  <a:srgbClr val="1A1A2E"/>
                </a:solidFill>
              </a:rPr>
              <a:t>下斜方肌力量强化</a:t>
            </a:r>
            <a:endParaRPr lang="en-US" sz="900" dirty="0"/>
          </a:p>
        </p:txBody>
      </p:sp>
      <p:sp>
        <p:nvSpPr>
          <p:cNvPr id="17" name="Shape 15"/>
          <p:cNvSpPr/>
          <p:nvPr/>
        </p:nvSpPr>
        <p:spPr>
          <a:xfrm>
            <a:off x="365760" y="3474720"/>
            <a:ext cx="2114550" cy="1828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8" name="Shape 16"/>
          <p:cNvSpPr/>
          <p:nvPr/>
        </p:nvSpPr>
        <p:spPr>
          <a:xfrm>
            <a:off x="365760" y="3474720"/>
            <a:ext cx="2114550" cy="36576"/>
          </a:xfrm>
          <a:prstGeom prst="rect">
            <a:avLst/>
          </a:prstGeom>
          <a:solidFill>
            <a:srgbClr val="E65100"/>
          </a:solidFill>
          <a:ln/>
        </p:spPr>
      </p:sp>
      <p:sp>
        <p:nvSpPr>
          <p:cNvPr id="19" name="Shape 17"/>
          <p:cNvSpPr/>
          <p:nvPr/>
        </p:nvSpPr>
        <p:spPr>
          <a:xfrm>
            <a:off x="1240155" y="3657600"/>
            <a:ext cx="365760" cy="365760"/>
          </a:xfrm>
          <a:prstGeom prst="ellipse">
            <a:avLst/>
          </a:prstGeom>
          <a:solidFill>
            <a:srgbClr val="E65100"/>
          </a:solidFill>
          <a:ln/>
        </p:spPr>
      </p:sp>
      <p:sp>
        <p:nvSpPr>
          <p:cNvPr id="20" name="Text 18"/>
          <p:cNvSpPr/>
          <p:nvPr/>
        </p:nvSpPr>
        <p:spPr>
          <a:xfrm>
            <a:off x="1240155" y="365760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1" name="Text 19"/>
          <p:cNvSpPr/>
          <p:nvPr/>
        </p:nvSpPr>
        <p:spPr>
          <a:xfrm>
            <a:off x="457200" y="4160520"/>
            <a:ext cx="1931670" cy="320040"/>
          </a:xfrm>
          <a:prstGeom prst="rect">
            <a:avLst/>
          </a:prstGeom>
          <a:noFill/>
          <a:ln/>
        </p:spPr>
        <p:txBody>
          <a:bodyPr wrap="square" lIns="0" tIns="0" rIns="0" bIns="0" rtlCol="0" anchor="ctr"/>
          <a:lstStyle/>
          <a:p>
            <a:pPr algn="ctr" indent="0" marL="0">
              <a:buNone/>
            </a:pPr>
            <a:r>
              <a:rPr lang="en-US" sz="1300" dirty="0">
                <a:solidFill>
                  <a:srgbClr val="E65100"/>
                </a:solidFill>
                <a:latin typeface="Arial Black" pitchFamily="34" charset="0"/>
                <a:ea typeface="Arial Black" pitchFamily="34" charset="-122"/>
                <a:cs typeface="Arial Black" pitchFamily="34" charset="-120"/>
              </a:rPr>
              <a:t>监控与预测</a:t>
            </a:r>
            <a:endParaRPr lang="en-US" sz="1300" dirty="0"/>
          </a:p>
        </p:txBody>
      </p:sp>
      <p:sp>
        <p:nvSpPr>
          <p:cNvPr id="22" name="Text 20"/>
          <p:cNvSpPr/>
          <p:nvPr/>
        </p:nvSpPr>
        <p:spPr>
          <a:xfrm>
            <a:off x="457200" y="4526280"/>
            <a:ext cx="1931670" cy="594360"/>
          </a:xfrm>
          <a:prstGeom prst="rect">
            <a:avLst/>
          </a:prstGeom>
          <a:noFill/>
          <a:ln/>
        </p:spPr>
        <p:txBody>
          <a:bodyPr wrap="square" rtlCol="0" anchor="t"/>
          <a:lstStyle/>
          <a:p>
            <a:pPr algn="ctr" indent="0" marL="0">
              <a:buNone/>
            </a:pPr>
            <a:r>
              <a:rPr lang="en-US" sz="900" dirty="0">
                <a:solidFill>
                  <a:srgbClr val="1A1A2E"/>
                </a:solidFill>
              </a:rPr>
              <a:t>投球计数监控</a:t>
            </a:r>
            <a:endParaRPr lang="en-US" sz="900" dirty="0"/>
          </a:p>
          <a:p>
            <a:pPr algn="ctr" indent="0" marL="0">
              <a:buNone/>
            </a:pPr>
            <a:r>
              <a:rPr lang="en-US" sz="900" dirty="0">
                <a:solidFill>
                  <a:srgbClr val="1A1A2E"/>
                </a:solidFill>
              </a:rPr>
              <a:t>球速监控(UCL预测)</a:t>
            </a:r>
            <a:endParaRPr lang="en-US" sz="900" dirty="0"/>
          </a:p>
          <a:p>
            <a:pPr algn="ctr" indent="0" marL="0">
              <a:buNone/>
            </a:pPr>
            <a:r>
              <a:rPr lang="en-US" sz="900" dirty="0">
                <a:solidFill>
                  <a:srgbClr val="1A1A2E"/>
                </a:solidFill>
              </a:rPr>
              <a:t>肩关节活动度评估</a:t>
            </a:r>
            <a:endParaRPr lang="en-US" sz="900" dirty="0"/>
          </a:p>
        </p:txBody>
      </p:sp>
      <p:sp>
        <p:nvSpPr>
          <p:cNvPr id="23" name="Shape 21"/>
          <p:cNvSpPr/>
          <p:nvPr/>
        </p:nvSpPr>
        <p:spPr>
          <a:xfrm>
            <a:off x="2663190" y="3474720"/>
            <a:ext cx="2114550" cy="18288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4" name="Shape 22"/>
          <p:cNvSpPr/>
          <p:nvPr/>
        </p:nvSpPr>
        <p:spPr>
          <a:xfrm>
            <a:off x="2663190" y="3474720"/>
            <a:ext cx="2114550" cy="36576"/>
          </a:xfrm>
          <a:prstGeom prst="rect">
            <a:avLst/>
          </a:prstGeom>
          <a:solidFill>
            <a:srgbClr val="6A1B9A"/>
          </a:solidFill>
          <a:ln/>
        </p:spPr>
      </p:sp>
      <p:sp>
        <p:nvSpPr>
          <p:cNvPr id="25" name="Shape 23"/>
          <p:cNvSpPr/>
          <p:nvPr/>
        </p:nvSpPr>
        <p:spPr>
          <a:xfrm>
            <a:off x="3537585" y="3657600"/>
            <a:ext cx="365760" cy="365760"/>
          </a:xfrm>
          <a:prstGeom prst="ellipse">
            <a:avLst/>
          </a:prstGeom>
          <a:solidFill>
            <a:srgbClr val="6A1B9A"/>
          </a:solidFill>
          <a:ln/>
        </p:spPr>
      </p:sp>
      <p:sp>
        <p:nvSpPr>
          <p:cNvPr id="26" name="Text 24"/>
          <p:cNvSpPr/>
          <p:nvPr/>
        </p:nvSpPr>
        <p:spPr>
          <a:xfrm>
            <a:off x="3537585" y="365760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7" name="Text 25"/>
          <p:cNvSpPr/>
          <p:nvPr/>
        </p:nvSpPr>
        <p:spPr>
          <a:xfrm>
            <a:off x="2754630" y="4160520"/>
            <a:ext cx="1931670" cy="320040"/>
          </a:xfrm>
          <a:prstGeom prst="rect">
            <a:avLst/>
          </a:prstGeom>
          <a:noFill/>
          <a:ln/>
        </p:spPr>
        <p:txBody>
          <a:bodyPr wrap="square" lIns="0" tIns="0" rIns="0" bIns="0" rtlCol="0" anchor="ctr"/>
          <a:lstStyle/>
          <a:p>
            <a:pPr algn="ctr" indent="0" marL="0">
              <a:buNone/>
            </a:pPr>
            <a:r>
              <a:rPr lang="en-US" sz="1300" dirty="0">
                <a:solidFill>
                  <a:srgbClr val="6A1B9A"/>
                </a:solidFill>
                <a:latin typeface="Arial Black" pitchFamily="34" charset="0"/>
                <a:ea typeface="Arial Black" pitchFamily="34" charset="-122"/>
                <a:cs typeface="Arial Black" pitchFamily="34" charset="-120"/>
              </a:rPr>
              <a:t>安全与普及</a:t>
            </a:r>
            <a:endParaRPr lang="en-US" sz="1300" dirty="0"/>
          </a:p>
        </p:txBody>
      </p:sp>
      <p:sp>
        <p:nvSpPr>
          <p:cNvPr id="28" name="Text 26"/>
          <p:cNvSpPr/>
          <p:nvPr/>
        </p:nvSpPr>
        <p:spPr>
          <a:xfrm>
            <a:off x="2754630" y="4526280"/>
            <a:ext cx="1931670" cy="594360"/>
          </a:xfrm>
          <a:prstGeom prst="rect">
            <a:avLst/>
          </a:prstGeom>
          <a:noFill/>
          <a:ln/>
        </p:spPr>
        <p:txBody>
          <a:bodyPr wrap="square" rtlCol="0" anchor="t"/>
          <a:lstStyle/>
          <a:p>
            <a:pPr algn="ctr" indent="0" marL="0">
              <a:buNone/>
            </a:pPr>
            <a:r>
              <a:rPr lang="en-US" sz="900" dirty="0">
                <a:solidFill>
                  <a:srgbClr val="1A1A2E"/>
                </a:solidFill>
              </a:rPr>
              <a:t>安全用球和面部护具</a:t>
            </a:r>
            <a:endParaRPr lang="en-US" sz="900" dirty="0"/>
          </a:p>
          <a:p>
            <a:pPr algn="ctr" indent="0" marL="0">
              <a:buNone/>
            </a:pPr>
            <a:r>
              <a:rPr lang="en-US" sz="900" dirty="0">
                <a:solidFill>
                  <a:srgbClr val="1A1A2E"/>
                </a:solidFill>
              </a:rPr>
              <a:t>可脱离式垒包</a:t>
            </a:r>
            <a:endParaRPr lang="en-US" sz="900" dirty="0"/>
          </a:p>
          <a:p>
            <a:pPr algn="ctr" indent="0" marL="0">
              <a:buNone/>
            </a:pPr>
            <a:r>
              <a:rPr lang="en-US" sz="900" dirty="0">
                <a:solidFill>
                  <a:srgbClr val="1A1A2E"/>
                </a:solidFill>
              </a:rPr>
              <a:t>ASMI青少年投球指南</a:t>
            </a:r>
            <a:endParaRPr lang="en-US" sz="900" dirty="0"/>
          </a:p>
        </p:txBody>
      </p:sp>
      <p:sp>
        <p:nvSpPr>
          <p:cNvPr id="29" name="Shape 27"/>
          <p:cNvSpPr/>
          <p:nvPr/>
        </p:nvSpPr>
        <p:spPr>
          <a:xfrm>
            <a:off x="365760" y="5715000"/>
            <a:ext cx="4411980" cy="548640"/>
          </a:xfrm>
          <a:prstGeom prst="rect">
            <a:avLst/>
          </a:prstGeom>
          <a:solidFill>
            <a:srgbClr val="E8F5E8"/>
          </a:solidFill>
          <a:ln/>
        </p:spPr>
      </p:sp>
      <p:sp>
        <p:nvSpPr>
          <p:cNvPr id="30" name="Shape 28"/>
          <p:cNvSpPr/>
          <p:nvPr/>
        </p:nvSpPr>
        <p:spPr>
          <a:xfrm>
            <a:off x="365760" y="5715000"/>
            <a:ext cx="45720" cy="548640"/>
          </a:xfrm>
          <a:prstGeom prst="rect">
            <a:avLst/>
          </a:prstGeom>
          <a:solidFill>
            <a:srgbClr val="1B5E20"/>
          </a:solidFill>
          <a:ln/>
        </p:spPr>
      </p:sp>
      <p:sp>
        <p:nvSpPr>
          <p:cNvPr id="31" name="Text 29"/>
          <p:cNvSpPr/>
          <p:nvPr/>
        </p:nvSpPr>
        <p:spPr>
          <a:xfrm>
            <a:off x="502920" y="5715000"/>
            <a:ext cx="4137660" cy="548640"/>
          </a:xfrm>
          <a:prstGeom prst="rect">
            <a:avLst/>
          </a:prstGeom>
          <a:noFill/>
          <a:ln/>
        </p:spPr>
        <p:txBody>
          <a:bodyPr wrap="square" rtlCol="0" anchor="ctr"/>
          <a:lstStyle/>
          <a:p>
            <a:pPr indent="0" marL="0">
              <a:buNone/>
            </a:pPr>
            <a:r>
              <a:rPr lang="en-US" sz="950" dirty="0">
                <a:solidFill>
                  <a:srgbClr val="1B5E20"/>
                </a:solidFill>
              </a:rPr>
              <a:t>实施建议：将上述方案系统性融入热身、训练、恢复三个阶段，建立定期评估与反馈机制</a:t>
            </a:r>
            <a:endParaRPr lang="en-US" sz="950" dirty="0"/>
          </a:p>
        </p:txBody>
      </p:sp>
      <p:sp>
        <p:nvSpPr>
          <p:cNvPr id="32" name="Shape 30"/>
          <p:cNvSpPr/>
          <p:nvPr/>
        </p:nvSpPr>
        <p:spPr>
          <a:xfrm>
            <a:off x="365760" y="6446520"/>
            <a:ext cx="4411980" cy="502920"/>
          </a:xfrm>
          <a:prstGeom prst="rect">
            <a:avLst/>
          </a:prstGeom>
          <a:solidFill>
            <a:srgbClr val="FFF8E1"/>
          </a:solidFill>
          <a:ln/>
        </p:spPr>
      </p:sp>
      <p:sp>
        <p:nvSpPr>
          <p:cNvPr id="33" name="Shape 31"/>
          <p:cNvSpPr/>
          <p:nvPr/>
        </p:nvSpPr>
        <p:spPr>
          <a:xfrm>
            <a:off x="365760" y="6446520"/>
            <a:ext cx="45720" cy="502920"/>
          </a:xfrm>
          <a:prstGeom prst="rect">
            <a:avLst/>
          </a:prstGeom>
          <a:solidFill>
            <a:srgbClr val="D4AF37"/>
          </a:solidFill>
          <a:ln/>
        </p:spPr>
      </p:sp>
      <p:sp>
        <p:nvSpPr>
          <p:cNvPr id="34" name="Text 32"/>
          <p:cNvSpPr/>
          <p:nvPr/>
        </p:nvSpPr>
        <p:spPr>
          <a:xfrm>
            <a:off x="502920" y="6446520"/>
            <a:ext cx="4137660" cy="502920"/>
          </a:xfrm>
          <a:prstGeom prst="rect">
            <a:avLst/>
          </a:prstGeom>
          <a:noFill/>
          <a:ln/>
        </p:spPr>
        <p:txBody>
          <a:bodyPr wrap="square" rtlCol="0" anchor="ctr"/>
          <a:lstStyle/>
          <a:p>
            <a:pPr indent="0" marL="0">
              <a:buNone/>
            </a:pPr>
            <a:r>
              <a:rPr lang="en-US" sz="800" dirty="0">
                <a:solidFill>
                  <a:srgbClr val="1A1A2E"/>
                </a:solidFill>
              </a:rPr>
              <a:t>青少年优先：横滨棒球-9 + 负荷管理  |  职业优先：球速监控 + 活动度维护  |  全级别：Nordic + 睡眠者拉伸</a:t>
            </a:r>
            <a:endParaRPr lang="en-US" sz="800" dirty="0"/>
          </a:p>
        </p:txBody>
      </p:sp>
      <p:sp>
        <p:nvSpPr>
          <p:cNvPr id="35" name="Shape 33"/>
          <p:cNvSpPr/>
          <p:nvPr/>
        </p:nvSpPr>
        <p:spPr>
          <a:xfrm>
            <a:off x="0" y="8732520"/>
            <a:ext cx="5143500" cy="411480"/>
          </a:xfrm>
          <a:prstGeom prst="rect">
            <a:avLst/>
          </a:prstGeom>
          <a:solidFill>
            <a:srgbClr val="EAE5D8"/>
          </a:solidFill>
          <a:ln/>
        </p:spPr>
      </p:sp>
      <p:sp>
        <p:nvSpPr>
          <p:cNvPr id="36" name="Shape 34"/>
          <p:cNvSpPr/>
          <p:nvPr/>
        </p:nvSpPr>
        <p:spPr>
          <a:xfrm>
            <a:off x="0" y="8732520"/>
            <a:ext cx="5143500" cy="27432"/>
          </a:xfrm>
          <a:prstGeom prst="rect">
            <a:avLst/>
          </a:prstGeom>
          <a:solidFill>
            <a:srgbClr val="C41E3A"/>
          </a:solidFill>
          <a:ln/>
        </p:spPr>
      </p:sp>
      <p:sp>
        <p:nvSpPr>
          <p:cNvPr id="37" name="Text 35"/>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BDC"/>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C41E3A"/>
          </a:solidFill>
          <a:ln/>
        </p:spPr>
      </p:sp>
      <p:sp>
        <p:nvSpPr>
          <p:cNvPr id="3" name="Shape 1"/>
          <p:cNvSpPr/>
          <p:nvPr/>
        </p:nvSpPr>
        <p:spPr>
          <a:xfrm>
            <a:off x="0" y="73152"/>
            <a:ext cx="5143500" cy="1097280"/>
          </a:xfrm>
          <a:prstGeom prst="rect">
            <a:avLst/>
          </a:prstGeom>
          <a:solidFill>
            <a:srgbClr val="F0EBDC"/>
          </a:solidFill>
          <a:ln/>
        </p:spPr>
      </p:sp>
      <p:sp>
        <p:nvSpPr>
          <p:cNvPr id="4" name="Text 2"/>
          <p:cNvSpPr/>
          <p:nvPr/>
        </p:nvSpPr>
        <p:spPr>
          <a:xfrm>
            <a:off x="365760" y="73152"/>
            <a:ext cx="4411980" cy="1097280"/>
          </a:xfrm>
          <a:prstGeom prst="rect">
            <a:avLst/>
          </a:prstGeom>
          <a:noFill/>
          <a:ln/>
        </p:spPr>
        <p:txBody>
          <a:bodyPr wrap="square" lIns="0" tIns="0" rIns="0" bIns="0" rtlCol="0" anchor="ctr"/>
          <a:lstStyle/>
          <a:p>
            <a:pPr indent="0" marL="0">
              <a:buNone/>
            </a:pPr>
            <a:r>
              <a:rPr lang="en-US" sz="2000" dirty="0">
                <a:solidFill>
                  <a:srgbClr val="1A3A5C"/>
                </a:solidFill>
                <a:latin typeface="Arial Black" pitchFamily="34" charset="0"/>
                <a:ea typeface="Arial Black" pitchFamily="34" charset="-122"/>
                <a:cs typeface="Arial Black" pitchFamily="34" charset="-120"/>
              </a:rPr>
              <a:t>研究空白与训练实践启示</a:t>
            </a:r>
            <a:endParaRPr lang="en-US" sz="2000" dirty="0"/>
          </a:p>
        </p:txBody>
      </p:sp>
      <p:sp>
        <p:nvSpPr>
          <p:cNvPr id="5" name="Shape 3"/>
          <p:cNvSpPr/>
          <p:nvPr/>
        </p:nvSpPr>
        <p:spPr>
          <a:xfrm>
            <a:off x="365760" y="1325880"/>
            <a:ext cx="4411980" cy="21031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6" name="Shape 4"/>
          <p:cNvSpPr/>
          <p:nvPr/>
        </p:nvSpPr>
        <p:spPr>
          <a:xfrm>
            <a:off x="365760" y="1325880"/>
            <a:ext cx="45720" cy="2103120"/>
          </a:xfrm>
          <a:prstGeom prst="rect">
            <a:avLst/>
          </a:prstGeom>
          <a:solidFill>
            <a:srgbClr val="C41E3A"/>
          </a:solidFill>
          <a:ln/>
        </p:spPr>
      </p:sp>
      <p:sp>
        <p:nvSpPr>
          <p:cNvPr id="7" name="Text 5"/>
          <p:cNvSpPr/>
          <p:nvPr/>
        </p:nvSpPr>
        <p:spPr>
          <a:xfrm>
            <a:off x="502920" y="1371600"/>
            <a:ext cx="4137660" cy="320040"/>
          </a:xfrm>
          <a:prstGeom prst="rect">
            <a:avLst/>
          </a:prstGeom>
          <a:noFill/>
          <a:ln/>
        </p:spPr>
        <p:txBody>
          <a:bodyPr wrap="square" lIns="0" tIns="0" rIns="0" bIns="0" rtlCol="0" anchor="ctr"/>
          <a:lstStyle/>
          <a:p>
            <a:pPr indent="0" marL="0">
              <a:buNone/>
            </a:pPr>
            <a:r>
              <a:rPr lang="en-US" sz="1200" dirty="0">
                <a:solidFill>
                  <a:srgbClr val="C41E3A"/>
                </a:solidFill>
                <a:latin typeface="Arial Black" pitchFamily="34" charset="0"/>
                <a:ea typeface="Arial Black" pitchFamily="34" charset="-122"/>
                <a:cs typeface="Arial Black" pitchFamily="34" charset="-120"/>
              </a:rPr>
              <a:t>研究空白</a:t>
            </a:r>
            <a:endParaRPr lang="en-US" sz="1200" dirty="0"/>
          </a:p>
        </p:txBody>
      </p:sp>
      <p:sp>
        <p:nvSpPr>
          <p:cNvPr id="8" name="Text 6"/>
          <p:cNvSpPr/>
          <p:nvPr/>
        </p:nvSpPr>
        <p:spPr>
          <a:xfrm>
            <a:off x="502920" y="1783080"/>
            <a:ext cx="4137660" cy="1508760"/>
          </a:xfrm>
          <a:prstGeom prst="rect">
            <a:avLst/>
          </a:prstGeom>
          <a:noFill/>
          <a:ln/>
        </p:spPr>
        <p:txBody>
          <a:bodyPr wrap="square" rtlCol="0" anchor="ctr"/>
          <a:lstStyle/>
          <a:p>
            <a:pPr marL="342900" indent="-342900">
              <a:spcAft>
                <a:spcPts val="600"/>
              </a:spcAft>
              <a:buSzPct val="100000"/>
              <a:buChar char="•"/>
            </a:pPr>
            <a:r>
              <a:rPr lang="en-US" sz="900" dirty="0">
                <a:solidFill>
                  <a:srgbClr val="1A1A2E"/>
                </a:solidFill>
              </a:rPr>
              <a:t>级别特异性预防方案缺失，亟待针对性开发和验证</a:t>
            </a:r>
            <a:endParaRPr lang="en-US" sz="900" dirty="0"/>
          </a:p>
          <a:p>
            <a:pPr marL="342900" indent="-342900">
              <a:spcAft>
                <a:spcPts val="600"/>
              </a:spcAft>
              <a:buSzPct val="100000"/>
              <a:buChar char="•"/>
            </a:pPr>
            <a:r>
              <a:rPr lang="en-US" sz="900" dirty="0">
                <a:solidFill>
                  <a:srgbClr val="1A1A2E"/>
                </a:solidFill>
              </a:rPr>
              <a:t>非投手（野手、捕手）损伤研究严重不足</a:t>
            </a:r>
            <a:endParaRPr lang="en-US" sz="900" dirty="0"/>
          </a:p>
          <a:p>
            <a:pPr marL="342900" indent="-342900">
              <a:spcAft>
                <a:spcPts val="600"/>
              </a:spcAft>
              <a:buSzPct val="100000"/>
              <a:buChar char="•"/>
            </a:pPr>
            <a:r>
              <a:rPr lang="en-US" sz="900" dirty="0">
                <a:solidFill>
                  <a:srgbClr val="1A1A2E"/>
                </a:solidFill>
              </a:rPr>
              <a:t>青少年指南依从性差：虽有建议但遵守率堪忧</a:t>
            </a:r>
            <a:endParaRPr lang="en-US" sz="900" dirty="0"/>
          </a:p>
          <a:p>
            <a:pPr marL="342900" indent="-342900">
              <a:spcAft>
                <a:spcPts val="600"/>
              </a:spcAft>
              <a:buSzPct val="100000"/>
              <a:buChar char="•"/>
            </a:pPr>
            <a:r>
              <a:rPr lang="en-US" sz="900" dirty="0">
                <a:solidFill>
                  <a:srgbClr val="1A1A2E"/>
                </a:solidFill>
              </a:rPr>
              <a:t>职业水平：需更多损伤预测和预防的循证研究</a:t>
            </a:r>
            <a:endParaRPr lang="en-US" sz="900" dirty="0"/>
          </a:p>
        </p:txBody>
      </p:sp>
      <p:sp>
        <p:nvSpPr>
          <p:cNvPr id="9" name="Shape 7"/>
          <p:cNvSpPr/>
          <p:nvPr/>
        </p:nvSpPr>
        <p:spPr>
          <a:xfrm>
            <a:off x="365760" y="3657600"/>
            <a:ext cx="4411980" cy="310896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0" name="Shape 8"/>
          <p:cNvSpPr/>
          <p:nvPr/>
        </p:nvSpPr>
        <p:spPr>
          <a:xfrm>
            <a:off x="365760" y="3657600"/>
            <a:ext cx="45720" cy="3108960"/>
          </a:xfrm>
          <a:prstGeom prst="rect">
            <a:avLst/>
          </a:prstGeom>
          <a:solidFill>
            <a:srgbClr val="1B5E20"/>
          </a:solidFill>
          <a:ln/>
        </p:spPr>
      </p:sp>
      <p:sp>
        <p:nvSpPr>
          <p:cNvPr id="11" name="Text 9"/>
          <p:cNvSpPr/>
          <p:nvPr/>
        </p:nvSpPr>
        <p:spPr>
          <a:xfrm>
            <a:off x="502920" y="3703320"/>
            <a:ext cx="4137660" cy="320040"/>
          </a:xfrm>
          <a:prstGeom prst="rect">
            <a:avLst/>
          </a:prstGeom>
          <a:noFill/>
          <a:ln/>
        </p:spPr>
        <p:txBody>
          <a:bodyPr wrap="square" lIns="0" tIns="0" rIns="0" bIns="0" rtlCol="0" anchor="ctr"/>
          <a:lstStyle/>
          <a:p>
            <a:pPr indent="0" marL="0">
              <a:buNone/>
            </a:pPr>
            <a:r>
              <a:rPr lang="en-US" sz="1200" dirty="0">
                <a:solidFill>
                  <a:srgbClr val="1B5E20"/>
                </a:solidFill>
                <a:latin typeface="Arial Black" pitchFamily="34" charset="0"/>
                <a:ea typeface="Arial Black" pitchFamily="34" charset="-122"/>
                <a:cs typeface="Arial Black" pitchFamily="34" charset="-120"/>
              </a:rPr>
              <a:t>训练实践启示</a:t>
            </a:r>
            <a:endParaRPr lang="en-US" sz="1200" dirty="0"/>
          </a:p>
        </p:txBody>
      </p:sp>
      <p:sp>
        <p:nvSpPr>
          <p:cNvPr id="12" name="Text 10"/>
          <p:cNvSpPr/>
          <p:nvPr/>
        </p:nvSpPr>
        <p:spPr>
          <a:xfrm>
            <a:off x="502920" y="4160520"/>
            <a:ext cx="4137660" cy="2468880"/>
          </a:xfrm>
          <a:prstGeom prst="rect">
            <a:avLst/>
          </a:prstGeom>
          <a:noFill/>
          <a:ln/>
        </p:spPr>
        <p:txBody>
          <a:bodyPr wrap="square" rtlCol="0" anchor="ctr"/>
          <a:lstStyle/>
          <a:p>
            <a:pPr marL="342900" indent="-342900">
              <a:spcAft>
                <a:spcPts val="600"/>
              </a:spcAft>
              <a:buSzPct val="100000"/>
              <a:buChar char="•"/>
            </a:pPr>
            <a:r>
              <a:rPr lang="en-US" sz="950" dirty="0">
                <a:solidFill>
                  <a:srgbClr val="1A1A2E"/>
                </a:solidFill>
              </a:rPr>
              <a:t>区分级别：青少年和职业本质不同，不可一刀切</a:t>
            </a:r>
            <a:endParaRPr lang="en-US" sz="950" dirty="0"/>
          </a:p>
          <a:p>
            <a:pPr marL="342900" indent="-342900">
              <a:spcAft>
                <a:spcPts val="600"/>
              </a:spcAft>
              <a:buSzPct val="100000"/>
              <a:buChar char="•"/>
            </a:pPr>
            <a:r>
              <a:rPr lang="en-US" sz="950" dirty="0">
                <a:solidFill>
                  <a:srgbClr val="1A1A2E"/>
                </a:solidFill>
              </a:rPr>
              <a:t>青少年重点：负荷管理 · 严禁带痛投球 · 横滨棒球-9</a:t>
            </a:r>
            <a:endParaRPr lang="en-US" sz="950" dirty="0"/>
          </a:p>
          <a:p>
            <a:pPr marL="342900" indent="-342900">
              <a:spcAft>
                <a:spcPts val="600"/>
              </a:spcAft>
              <a:buSzPct val="100000"/>
              <a:buChar char="•"/>
            </a:pPr>
            <a:r>
              <a:rPr lang="en-US" sz="950" dirty="0">
                <a:solidFill>
                  <a:srgbClr val="1A1A2E"/>
                </a:solidFill>
              </a:rPr>
              <a:t>职业重点：球速监控 · 肩关节外旋/前屈活动度维护</a:t>
            </a:r>
            <a:endParaRPr lang="en-US" sz="950" dirty="0"/>
          </a:p>
          <a:p>
            <a:pPr marL="342900" indent="-342900">
              <a:spcAft>
                <a:spcPts val="600"/>
              </a:spcAft>
              <a:buSzPct val="100000"/>
              <a:buChar char="•"/>
            </a:pPr>
            <a:r>
              <a:rPr lang="en-US" sz="950" dirty="0">
                <a:solidFill>
                  <a:srgbClr val="1A1A2E"/>
                </a:solidFill>
              </a:rPr>
              <a:t>全级别通用：Nordic腘绳肌练习 · 改良睡眠者拉伸</a:t>
            </a:r>
            <a:endParaRPr lang="en-US" sz="950" dirty="0"/>
          </a:p>
          <a:p>
            <a:pPr marL="342900" indent="-342900">
              <a:spcAft>
                <a:spcPts val="600"/>
              </a:spcAft>
              <a:buSzPct val="100000"/>
              <a:buChar char="•"/>
            </a:pPr>
            <a:r>
              <a:rPr lang="en-US" sz="950" dirty="0">
                <a:solidFill>
                  <a:srgbClr val="1A1A2E"/>
                </a:solidFill>
              </a:rPr>
              <a:t>持续监测：可穿戴传感器和生物力学评估纳入日常训练</a:t>
            </a:r>
            <a:endParaRPr lang="en-US" sz="950" dirty="0"/>
          </a:p>
        </p:txBody>
      </p:sp>
      <p:sp>
        <p:nvSpPr>
          <p:cNvPr id="13" name="Shape 11"/>
          <p:cNvSpPr/>
          <p:nvPr/>
        </p:nvSpPr>
        <p:spPr>
          <a:xfrm>
            <a:off x="365760" y="7040880"/>
            <a:ext cx="4411980" cy="594360"/>
          </a:xfrm>
          <a:prstGeom prst="rect">
            <a:avLst/>
          </a:prstGeom>
          <a:solidFill>
            <a:srgbClr val="1A3A5C"/>
          </a:solidFill>
          <a:ln/>
          <a:effectLst>
            <a:outerShdw sx="100000" sy="100000" kx="0" ky="0" algn="bl" rotWithShape="0" blurRad="63500" dist="25400" dir="8100000">
              <a:srgbClr val="000000">
                <a:alpha val="10000"/>
              </a:srgbClr>
            </a:outerShdw>
          </a:effectLst>
        </p:spPr>
      </p:sp>
      <p:sp>
        <p:nvSpPr>
          <p:cNvPr id="14" name="Text 12"/>
          <p:cNvSpPr/>
          <p:nvPr/>
        </p:nvSpPr>
        <p:spPr>
          <a:xfrm>
            <a:off x="502920" y="7040880"/>
            <a:ext cx="4137660" cy="594360"/>
          </a:xfrm>
          <a:prstGeom prst="rect">
            <a:avLst/>
          </a:prstGeom>
          <a:noFill/>
          <a:ln/>
        </p:spPr>
        <p:txBody>
          <a:bodyPr wrap="square" rtlCol="0" anchor="ctr"/>
          <a:lstStyle/>
          <a:p>
            <a:pPr indent="0" marL="0">
              <a:buNone/>
            </a:pPr>
            <a:r>
              <a:rPr lang="en-US" sz="1000" b="1" dirty="0">
                <a:solidFill>
                  <a:srgbClr val="D4AF37"/>
                </a:solidFill>
              </a:rPr>
              <a:t>Melugin et al. (2018)
</a:t>
            </a:r>
            <a:endParaRPr lang="en-US" sz="1000" dirty="0"/>
          </a:p>
          <a:p>
            <a:pPr indent="0" marL="0">
              <a:buNone/>
            </a:pPr>
            <a:r>
              <a:rPr lang="en-US" sz="800" dirty="0">
                <a:solidFill>
                  <a:srgbClr val="AABBCC"/>
                </a:solidFill>
              </a:rPr>
              <a:t>Injury Prevention in Baseball: from Youth to the Pros. Curr Rev Musculoskelet Med, 11:26–34</a:t>
            </a:r>
            <a:endParaRPr lang="en-US" sz="1000" dirty="0"/>
          </a:p>
        </p:txBody>
      </p:sp>
      <p:sp>
        <p:nvSpPr>
          <p:cNvPr id="15" name="Shape 13"/>
          <p:cNvSpPr/>
          <p:nvPr/>
        </p:nvSpPr>
        <p:spPr>
          <a:xfrm>
            <a:off x="0" y="8732520"/>
            <a:ext cx="5143500" cy="411480"/>
          </a:xfrm>
          <a:prstGeom prst="rect">
            <a:avLst/>
          </a:prstGeom>
          <a:solidFill>
            <a:srgbClr val="EAE5D8"/>
          </a:solidFill>
          <a:ln/>
        </p:spPr>
      </p:sp>
      <p:sp>
        <p:nvSpPr>
          <p:cNvPr id="16" name="Shape 14"/>
          <p:cNvSpPr/>
          <p:nvPr/>
        </p:nvSpPr>
        <p:spPr>
          <a:xfrm>
            <a:off x="0" y="8732520"/>
            <a:ext cx="5143500" cy="27432"/>
          </a:xfrm>
          <a:prstGeom prst="rect">
            <a:avLst/>
          </a:prstGeom>
          <a:solidFill>
            <a:srgbClr val="C41E3A"/>
          </a:solidFill>
          <a:ln/>
        </p:spPr>
      </p:sp>
      <p:sp>
        <p:nvSpPr>
          <p:cNvPr id="17" name="Text 15"/>
          <p:cNvSpPr/>
          <p:nvPr/>
        </p:nvSpPr>
        <p:spPr>
          <a:xfrm>
            <a:off x="365760" y="8732520"/>
            <a:ext cx="4411980" cy="411480"/>
          </a:xfrm>
          <a:prstGeom prst="rect">
            <a:avLst/>
          </a:prstGeom>
          <a:noFill/>
          <a:ln/>
        </p:spPr>
        <p:txBody>
          <a:bodyPr wrap="square" lIns="0" tIns="0" rIns="0" bIns="0" rtlCol="0" anchor="ctr"/>
          <a:lstStyle/>
          <a:p>
            <a:pPr algn="ctr" indent="0" marL="0">
              <a:buNone/>
            </a:pPr>
            <a:r>
              <a:rPr lang="en-US" sz="700" dirty="0">
                <a:solidFill>
                  <a:srgbClr val="6B7885"/>
                </a:solidFill>
              </a:rPr>
              <a:t>编者：於菟子Max爱棒球  |  文献：Melugin et al., Curr Rev Musculoskelet Med, 2018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143500" cy="73152"/>
          </a:xfrm>
          <a:prstGeom prst="rect">
            <a:avLst/>
          </a:prstGeom>
          <a:solidFill>
            <a:srgbClr val="C41E3A"/>
          </a:solidFill>
          <a:ln/>
        </p:spPr>
      </p:sp>
      <p:sp>
        <p:nvSpPr>
          <p:cNvPr id="3" name="Text 1"/>
          <p:cNvSpPr/>
          <p:nvPr/>
        </p:nvSpPr>
        <p:spPr>
          <a:xfrm>
            <a:off x="0" y="914400"/>
            <a:ext cx="5143500" cy="1371600"/>
          </a:xfrm>
          <a:prstGeom prst="rect">
            <a:avLst/>
          </a:prstGeom>
          <a:noFill/>
          <a:ln/>
        </p:spPr>
        <p:txBody>
          <a:bodyPr wrap="square" lIns="0" tIns="0" rIns="0" bIns="0" rtlCol="0" anchor="ctr"/>
          <a:lstStyle/>
          <a:p>
            <a:pPr algn="ctr" indent="0" marL="0">
              <a:buNone/>
            </a:pPr>
            <a:r>
              <a:rPr lang="en-US" sz="5200" dirty="0">
                <a:solidFill>
                  <a:srgbClr val="C41E3A"/>
                </a:solidFill>
              </a:rPr>
              <a:t>⚾</a:t>
            </a:r>
            <a:endParaRPr lang="en-US" sz="5200" dirty="0"/>
          </a:p>
        </p:txBody>
      </p:sp>
      <p:sp>
        <p:nvSpPr>
          <p:cNvPr id="4" name="Text 2"/>
          <p:cNvSpPr/>
          <p:nvPr/>
        </p:nvSpPr>
        <p:spPr>
          <a:xfrm>
            <a:off x="365760" y="2560320"/>
            <a:ext cx="4411980" cy="914400"/>
          </a:xfrm>
          <a:prstGeom prst="rect">
            <a:avLst/>
          </a:prstGeom>
          <a:noFill/>
          <a:ln/>
        </p:spPr>
        <p:txBody>
          <a:bodyPr wrap="square" rtlCol="0" anchor="ctr"/>
          <a:lstStyle/>
          <a:p>
            <a:pPr algn="ctr" indent="0" marL="0">
              <a:buNone/>
            </a:pPr>
            <a:r>
              <a:rPr lang="en-US" sz="3400" dirty="0">
                <a:solidFill>
                  <a:srgbClr val="FFFFFF"/>
                </a:solidFill>
                <a:latin typeface="Arial Black" pitchFamily="34" charset="0"/>
                <a:ea typeface="Arial Black" pitchFamily="34" charset="-122"/>
                <a:cs typeface="Arial Black" pitchFamily="34" charset="-120"/>
              </a:rPr>
              <a:t>谢谢阅读</a:t>
            </a:r>
            <a:endParaRPr lang="en-US" sz="3400" dirty="0"/>
          </a:p>
        </p:txBody>
      </p:sp>
      <p:sp>
        <p:nvSpPr>
          <p:cNvPr id="5" name="Shape 3"/>
          <p:cNvSpPr/>
          <p:nvPr/>
        </p:nvSpPr>
        <p:spPr>
          <a:xfrm>
            <a:off x="1543050" y="3657600"/>
            <a:ext cx="2057400" cy="22860"/>
          </a:xfrm>
          <a:prstGeom prst="rect">
            <a:avLst/>
          </a:prstGeom>
          <a:solidFill>
            <a:srgbClr val="D4AF37"/>
          </a:solidFill>
          <a:ln/>
        </p:spPr>
      </p:sp>
      <p:sp>
        <p:nvSpPr>
          <p:cNvPr id="6" name="Text 4"/>
          <p:cNvSpPr/>
          <p:nvPr/>
        </p:nvSpPr>
        <p:spPr>
          <a:xfrm>
            <a:off x="640080" y="3931920"/>
            <a:ext cx="3863340" cy="1097280"/>
          </a:xfrm>
          <a:prstGeom prst="rect">
            <a:avLst/>
          </a:prstGeom>
          <a:noFill/>
          <a:ln/>
        </p:spPr>
        <p:txBody>
          <a:bodyPr wrap="square" rtlCol="0" anchor="ctr"/>
          <a:lstStyle/>
          <a:p>
            <a:pPr algn="ctr" indent="0" marL="0">
              <a:buNone/>
            </a:pPr>
            <a:r>
              <a:rPr lang="en-US" sz="950" dirty="0">
                <a:solidFill>
                  <a:srgbClr val="8899AA"/>
                </a:solidFill>
              </a:rPr>
              <a:t>Melugin HP · Leafblad ND · Camp CL · Conte S</a:t>
            </a:r>
            <a:endParaRPr lang="en-US" sz="950" dirty="0"/>
          </a:p>
          <a:p>
            <a:pPr algn="ctr" indent="0" marL="0">
              <a:buNone/>
            </a:pPr>
            <a:r>
              <a:rPr lang="en-US" sz="950" dirty="0">
                <a:solidFill>
                  <a:srgbClr val="8899AA"/>
                </a:solidFill>
              </a:rPr>
              <a:t>Injury Prevention in Baseball: from Youth to the Pros</a:t>
            </a:r>
            <a:endParaRPr lang="en-US" sz="950" dirty="0"/>
          </a:p>
          <a:p>
            <a:pPr algn="ctr" indent="0" marL="0">
              <a:buNone/>
            </a:pPr>
            <a:r>
              <a:rPr lang="en-US" sz="950" dirty="0">
                <a:solidFill>
                  <a:srgbClr val="8899AA"/>
                </a:solidFill>
              </a:rPr>
              <a:t>Current Reviews in Musculoskeletal Medicine, 2018</a:t>
            </a:r>
            <a:endParaRPr lang="en-US" sz="950" dirty="0"/>
          </a:p>
        </p:txBody>
      </p:sp>
      <p:sp>
        <p:nvSpPr>
          <p:cNvPr id="7" name="Shape 5"/>
          <p:cNvSpPr/>
          <p:nvPr/>
        </p:nvSpPr>
        <p:spPr>
          <a:xfrm>
            <a:off x="771525" y="5257800"/>
            <a:ext cx="3600450" cy="457200"/>
          </a:xfrm>
          <a:prstGeom prst="rect">
            <a:avLst/>
          </a:prstGeom>
          <a:solidFill>
            <a:srgbClr val="FFFFFF">
              <a:alpha val="8000"/>
            </a:srgbClr>
          </a:solidFill>
          <a:ln w="10160">
            <a:solidFill>
              <a:srgbClr val="D4AF37"/>
            </a:solidFill>
            <a:prstDash val="solid"/>
          </a:ln>
        </p:spPr>
      </p:sp>
      <p:sp>
        <p:nvSpPr>
          <p:cNvPr id="8" name="Text 6"/>
          <p:cNvSpPr/>
          <p:nvPr/>
        </p:nvSpPr>
        <p:spPr>
          <a:xfrm>
            <a:off x="771525" y="5257800"/>
            <a:ext cx="3600450" cy="457200"/>
          </a:xfrm>
          <a:prstGeom prst="rect">
            <a:avLst/>
          </a:prstGeom>
          <a:noFill/>
          <a:ln/>
        </p:spPr>
        <p:txBody>
          <a:bodyPr wrap="square" lIns="0" tIns="0" rIns="0" bIns="0" rtlCol="0" anchor="ctr"/>
          <a:lstStyle/>
          <a:p>
            <a:pPr algn="ctr" indent="0" marL="0">
              <a:buNone/>
            </a:pPr>
            <a:r>
              <a:rPr lang="en-US" sz="1200" dirty="0">
                <a:solidFill>
                  <a:srgbClr val="D4AF37"/>
                </a:solidFill>
              </a:rPr>
              <a:t>编者：於菟子Max爱棒球</a:t>
            </a:r>
            <a:endParaRPr lang="en-US" sz="1200" dirty="0"/>
          </a:p>
        </p:txBody>
      </p:sp>
      <p:sp>
        <p:nvSpPr>
          <p:cNvPr id="9" name="Shape 7"/>
          <p:cNvSpPr/>
          <p:nvPr/>
        </p:nvSpPr>
        <p:spPr>
          <a:xfrm>
            <a:off x="822960" y="6080760"/>
            <a:ext cx="365760" cy="16459"/>
          </a:xfrm>
          <a:prstGeom prst="rect">
            <a:avLst/>
          </a:prstGeom>
          <a:solidFill>
            <a:srgbClr val="C41E3A">
              <a:alpha val="20000"/>
            </a:srgbClr>
          </a:solidFill>
          <a:ln/>
        </p:spPr>
      </p:sp>
      <p:sp>
        <p:nvSpPr>
          <p:cNvPr id="10" name="Shape 8"/>
          <p:cNvSpPr/>
          <p:nvPr/>
        </p:nvSpPr>
        <p:spPr>
          <a:xfrm>
            <a:off x="1737360" y="6080760"/>
            <a:ext cx="365760" cy="16459"/>
          </a:xfrm>
          <a:prstGeom prst="rect">
            <a:avLst/>
          </a:prstGeom>
          <a:solidFill>
            <a:srgbClr val="C41E3A">
              <a:alpha val="35000"/>
            </a:srgbClr>
          </a:solidFill>
          <a:ln/>
        </p:spPr>
      </p:sp>
      <p:sp>
        <p:nvSpPr>
          <p:cNvPr id="11" name="Shape 9"/>
          <p:cNvSpPr/>
          <p:nvPr/>
        </p:nvSpPr>
        <p:spPr>
          <a:xfrm>
            <a:off x="2651760" y="6080760"/>
            <a:ext cx="365760" cy="16459"/>
          </a:xfrm>
          <a:prstGeom prst="rect">
            <a:avLst/>
          </a:prstGeom>
          <a:solidFill>
            <a:srgbClr val="C41E3A">
              <a:alpha val="50000"/>
            </a:srgbClr>
          </a:solidFill>
          <a:ln/>
        </p:spPr>
      </p:sp>
      <p:sp>
        <p:nvSpPr>
          <p:cNvPr id="12" name="Shape 10"/>
          <p:cNvSpPr/>
          <p:nvPr/>
        </p:nvSpPr>
        <p:spPr>
          <a:xfrm>
            <a:off x="3566160" y="6080760"/>
            <a:ext cx="365760" cy="16459"/>
          </a:xfrm>
          <a:prstGeom prst="rect">
            <a:avLst/>
          </a:prstGeom>
          <a:solidFill>
            <a:srgbClr val="C41E3A">
              <a:alpha val="65000"/>
            </a:srgbClr>
          </a:solidFill>
          <a:ln/>
        </p:spPr>
      </p:sp>
      <p:sp>
        <p:nvSpPr>
          <p:cNvPr id="13" name="Shape 11"/>
          <p:cNvSpPr/>
          <p:nvPr/>
        </p:nvSpPr>
        <p:spPr>
          <a:xfrm>
            <a:off x="0" y="6858000"/>
            <a:ext cx="5143500" cy="36576"/>
          </a:xfrm>
          <a:prstGeom prst="rect">
            <a:avLst/>
          </a:prstGeom>
          <a:solidFill>
            <a:srgbClr val="C41E3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棒球损伤预防：从青少年到职业</dc:title>
  <dc:subject>PptxGenJS Presentation</dc:subject>
  <dc:creator>於菟子Max爱棒球</dc:creator>
  <cp:lastModifiedBy>於菟子Max爱棒球</cp:lastModifiedBy>
  <cp:revision>1</cp:revision>
  <dcterms:created xsi:type="dcterms:W3CDTF">2026-06-23T12:28:36Z</dcterms:created>
  <dcterms:modified xsi:type="dcterms:W3CDTF">2026-06-23T12:28:36Z</dcterms:modified>
</cp:coreProperties>
</file>